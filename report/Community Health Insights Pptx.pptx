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89" r:id="rId8"/>
    <p:sldId id="285" r:id="rId9"/>
    <p:sldId id="264" r:id="rId10"/>
    <p:sldId id="286" r:id="rId11"/>
    <p:sldId id="287" r:id="rId12"/>
    <p:sldId id="267" r:id="rId13"/>
    <p:sldId id="269" r:id="rId14"/>
    <p:sldId id="273" r:id="rId15"/>
    <p:sldId id="274" r:id="rId16"/>
    <p:sldId id="275" r:id="rId17"/>
    <p:sldId id="277" r:id="rId18"/>
    <p:sldId id="278" r:id="rId19"/>
    <p:sldId id="280" r:id="rId20"/>
    <p:sldId id="281" r:id="rId21"/>
    <p:sldId id="282" r:id="rId22"/>
    <p:sldId id="283" r:id="rId23"/>
    <p:sldId id="284" r:id="rId24"/>
    <p:sldId id="290" r:id="rId25"/>
    <p:sldId id="291" r:id="rId26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2E3EA8-D7A0-4EA2-9C05-698BBF3C0F64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898EE79-CF5A-415F-B1A7-4CCCFD97F803}">
      <dgm:prSet/>
      <dgm:spPr/>
      <dgm:t>
        <a:bodyPr/>
        <a:lstStyle/>
        <a:p>
          <a:r>
            <a:rPr lang="en-US" b="1"/>
            <a:t>What are the min, max and quartile values for systolicBP?</a:t>
          </a:r>
          <a:endParaRPr lang="en-US"/>
        </a:p>
      </dgm:t>
    </dgm:pt>
    <dgm:pt modelId="{E99B7F9A-41C4-412F-869D-76EE92F2C88E}" type="parTrans" cxnId="{5EEBDEFA-FC03-4655-839E-69F1891DC106}">
      <dgm:prSet/>
      <dgm:spPr/>
      <dgm:t>
        <a:bodyPr/>
        <a:lstStyle/>
        <a:p>
          <a:endParaRPr lang="en-US"/>
        </a:p>
      </dgm:t>
    </dgm:pt>
    <dgm:pt modelId="{A8F252CB-CFD5-488B-9E81-8B50D3A9E1F9}" type="sibTrans" cxnId="{5EEBDEFA-FC03-4655-839E-69F1891DC106}">
      <dgm:prSet/>
      <dgm:spPr/>
      <dgm:t>
        <a:bodyPr/>
        <a:lstStyle/>
        <a:p>
          <a:endParaRPr lang="en-US"/>
        </a:p>
      </dgm:t>
    </dgm:pt>
    <dgm:pt modelId="{BA151C26-11D6-4EEA-B95A-6C96D04B9A21}">
      <dgm:prSet/>
      <dgm:spPr/>
      <dgm:t>
        <a:bodyPr/>
        <a:lstStyle/>
        <a:p>
          <a:r>
            <a:rPr lang="en-US"/>
            <a:t>The image below indicates the following;</a:t>
          </a:r>
        </a:p>
      </dgm:t>
    </dgm:pt>
    <dgm:pt modelId="{BD8C974B-9929-4878-A3B3-E4B48DB4C815}" type="parTrans" cxnId="{74D24CB2-1246-43BE-93FF-75CC0CB4A2E8}">
      <dgm:prSet/>
      <dgm:spPr/>
      <dgm:t>
        <a:bodyPr/>
        <a:lstStyle/>
        <a:p>
          <a:endParaRPr lang="en-US"/>
        </a:p>
      </dgm:t>
    </dgm:pt>
    <dgm:pt modelId="{221A59CD-3671-47D8-8C85-104760DB990B}" type="sibTrans" cxnId="{74D24CB2-1246-43BE-93FF-75CC0CB4A2E8}">
      <dgm:prSet/>
      <dgm:spPr/>
      <dgm:t>
        <a:bodyPr/>
        <a:lstStyle/>
        <a:p>
          <a:endParaRPr lang="en-US"/>
        </a:p>
      </dgm:t>
    </dgm:pt>
    <dgm:pt modelId="{674E09C7-4D08-4DDC-AC2F-9F4246254D1F}">
      <dgm:prSet/>
      <dgm:spPr/>
      <dgm:t>
        <a:bodyPr/>
        <a:lstStyle/>
        <a:p>
          <a:r>
            <a:rPr lang="en-US"/>
            <a:t>Participants BP centers at 145.1 which is high</a:t>
          </a:r>
        </a:p>
      </dgm:t>
    </dgm:pt>
    <dgm:pt modelId="{198F7554-BDA0-465C-AE6F-DC1827A8CD44}" type="parTrans" cxnId="{7B21F1EF-7F4D-4CE4-A062-BFC705352FE5}">
      <dgm:prSet/>
      <dgm:spPr/>
      <dgm:t>
        <a:bodyPr/>
        <a:lstStyle/>
        <a:p>
          <a:endParaRPr lang="en-US"/>
        </a:p>
      </dgm:t>
    </dgm:pt>
    <dgm:pt modelId="{6E0E7300-4249-4096-964A-F9CFE3FA3631}" type="sibTrans" cxnId="{7B21F1EF-7F4D-4CE4-A062-BFC705352FE5}">
      <dgm:prSet/>
      <dgm:spPr/>
      <dgm:t>
        <a:bodyPr/>
        <a:lstStyle/>
        <a:p>
          <a:endParaRPr lang="en-US"/>
        </a:p>
      </dgm:t>
    </dgm:pt>
    <dgm:pt modelId="{55FE84BC-F5E1-4DA4-A639-194B0D872C2B}">
      <dgm:prSet/>
      <dgm:spPr/>
      <dgm:t>
        <a:bodyPr/>
        <a:lstStyle/>
        <a:p>
          <a:r>
            <a:rPr lang="en-US"/>
            <a:t>Over 75% of the sampled population falls into hypertensive ranges (153.6), with the top quarter facing severe Stage 2 elevations</a:t>
          </a:r>
        </a:p>
      </dgm:t>
    </dgm:pt>
    <dgm:pt modelId="{75F0D890-131A-4DC8-A76C-55B6EECF65E1}" type="parTrans" cxnId="{1986F2D4-0BE5-4D13-9E06-B3A9D81C5362}">
      <dgm:prSet/>
      <dgm:spPr/>
      <dgm:t>
        <a:bodyPr/>
        <a:lstStyle/>
        <a:p>
          <a:endParaRPr lang="en-US"/>
        </a:p>
      </dgm:t>
    </dgm:pt>
    <dgm:pt modelId="{E73DE61A-4488-4E28-8C65-4B0794622992}" type="sibTrans" cxnId="{1986F2D4-0BE5-4D13-9E06-B3A9D81C5362}">
      <dgm:prSet/>
      <dgm:spPr/>
      <dgm:t>
        <a:bodyPr/>
        <a:lstStyle/>
        <a:p>
          <a:endParaRPr lang="en-US"/>
        </a:p>
      </dgm:t>
    </dgm:pt>
    <dgm:pt modelId="{CB7603E9-3CF1-467A-87E1-438EA1C3D482}">
      <dgm:prSet/>
      <dgm:spPr/>
      <dgm:t>
        <a:bodyPr/>
        <a:lstStyle/>
        <a:p>
          <a:r>
            <a:rPr lang="en-US"/>
            <a:t>Individual readings span from a healthy minimum of 108.8 mmHg to a life-threatening maximum of 187.3 mmHg.</a:t>
          </a:r>
        </a:p>
      </dgm:t>
    </dgm:pt>
    <dgm:pt modelId="{2F6266B0-CB37-48AC-B5BA-46F6E3921268}" type="parTrans" cxnId="{E8CB434C-70CC-43FE-9636-233D465205A1}">
      <dgm:prSet/>
      <dgm:spPr/>
      <dgm:t>
        <a:bodyPr/>
        <a:lstStyle/>
        <a:p>
          <a:endParaRPr lang="en-US"/>
        </a:p>
      </dgm:t>
    </dgm:pt>
    <dgm:pt modelId="{D5E0DF96-08F0-43EF-BF65-2F21A289C21D}" type="sibTrans" cxnId="{E8CB434C-70CC-43FE-9636-233D465205A1}">
      <dgm:prSet/>
      <dgm:spPr/>
      <dgm:t>
        <a:bodyPr/>
        <a:lstStyle/>
        <a:p>
          <a:endParaRPr lang="en-US"/>
        </a:p>
      </dgm:t>
    </dgm:pt>
    <dgm:pt modelId="{36B64A02-5038-4D14-BDDD-4DB36AD8FA42}" type="pres">
      <dgm:prSet presAssocID="{892E3EA8-D7A0-4EA2-9C05-698BBF3C0F64}" presName="diagram" presStyleCnt="0">
        <dgm:presLayoutVars>
          <dgm:dir/>
          <dgm:resizeHandles val="exact"/>
        </dgm:presLayoutVars>
      </dgm:prSet>
      <dgm:spPr/>
    </dgm:pt>
    <dgm:pt modelId="{3DCAB324-BD46-4B2B-BEC7-89DA934B1731}" type="pres">
      <dgm:prSet presAssocID="{E898EE79-CF5A-415F-B1A7-4CCCFD97F803}" presName="node" presStyleLbl="node1" presStyleIdx="0" presStyleCnt="2">
        <dgm:presLayoutVars>
          <dgm:bulletEnabled val="1"/>
        </dgm:presLayoutVars>
      </dgm:prSet>
      <dgm:spPr/>
    </dgm:pt>
    <dgm:pt modelId="{47EF5DB3-C7F8-4417-929E-00A701E42E0D}" type="pres">
      <dgm:prSet presAssocID="{A8F252CB-CFD5-488B-9E81-8B50D3A9E1F9}" presName="sibTrans" presStyleLbl="sibTrans2D1" presStyleIdx="0" presStyleCnt="1"/>
      <dgm:spPr/>
    </dgm:pt>
    <dgm:pt modelId="{3FB3E8E9-1B3F-4C74-B27A-F93A832E7A08}" type="pres">
      <dgm:prSet presAssocID="{A8F252CB-CFD5-488B-9E81-8B50D3A9E1F9}" presName="connectorText" presStyleLbl="sibTrans2D1" presStyleIdx="0" presStyleCnt="1"/>
      <dgm:spPr/>
    </dgm:pt>
    <dgm:pt modelId="{150B4CB4-FD86-41A4-9CA0-5047FD17A8C0}" type="pres">
      <dgm:prSet presAssocID="{BA151C26-11D6-4EEA-B95A-6C96D04B9A21}" presName="node" presStyleLbl="node1" presStyleIdx="1" presStyleCnt="2">
        <dgm:presLayoutVars>
          <dgm:bulletEnabled val="1"/>
        </dgm:presLayoutVars>
      </dgm:prSet>
      <dgm:spPr/>
    </dgm:pt>
  </dgm:ptLst>
  <dgm:cxnLst>
    <dgm:cxn modelId="{CFB4C02F-E3E2-4ED3-B3A7-D67BEA2F3225}" type="presOf" srcId="{674E09C7-4D08-4DDC-AC2F-9F4246254D1F}" destId="{150B4CB4-FD86-41A4-9CA0-5047FD17A8C0}" srcOrd="0" destOrd="1" presId="urn:microsoft.com/office/officeart/2005/8/layout/process5"/>
    <dgm:cxn modelId="{159EB13F-FE38-4B81-AA8E-6C0E3CBA9374}" type="presOf" srcId="{A8F252CB-CFD5-488B-9E81-8B50D3A9E1F9}" destId="{47EF5DB3-C7F8-4417-929E-00A701E42E0D}" srcOrd="0" destOrd="0" presId="urn:microsoft.com/office/officeart/2005/8/layout/process5"/>
    <dgm:cxn modelId="{E8CB434C-70CC-43FE-9636-233D465205A1}" srcId="{BA151C26-11D6-4EEA-B95A-6C96D04B9A21}" destId="{CB7603E9-3CF1-467A-87E1-438EA1C3D482}" srcOrd="2" destOrd="0" parTransId="{2F6266B0-CB37-48AC-B5BA-46F6E3921268}" sibTransId="{D5E0DF96-08F0-43EF-BF65-2F21A289C21D}"/>
    <dgm:cxn modelId="{101DB550-4401-400C-89CA-D9618B434119}" type="presOf" srcId="{E898EE79-CF5A-415F-B1A7-4CCCFD97F803}" destId="{3DCAB324-BD46-4B2B-BEC7-89DA934B1731}" srcOrd="0" destOrd="0" presId="urn:microsoft.com/office/officeart/2005/8/layout/process5"/>
    <dgm:cxn modelId="{EFF0AC72-3040-4CBF-95B5-D4F6EDCA781C}" type="presOf" srcId="{A8F252CB-CFD5-488B-9E81-8B50D3A9E1F9}" destId="{3FB3E8E9-1B3F-4C74-B27A-F93A832E7A08}" srcOrd="1" destOrd="0" presId="urn:microsoft.com/office/officeart/2005/8/layout/process5"/>
    <dgm:cxn modelId="{74D24CB2-1246-43BE-93FF-75CC0CB4A2E8}" srcId="{892E3EA8-D7A0-4EA2-9C05-698BBF3C0F64}" destId="{BA151C26-11D6-4EEA-B95A-6C96D04B9A21}" srcOrd="1" destOrd="0" parTransId="{BD8C974B-9929-4878-A3B3-E4B48DB4C815}" sibTransId="{221A59CD-3671-47D8-8C85-104760DB990B}"/>
    <dgm:cxn modelId="{3D4703BE-932F-40FC-B03F-81EB7E2B3DFF}" type="presOf" srcId="{CB7603E9-3CF1-467A-87E1-438EA1C3D482}" destId="{150B4CB4-FD86-41A4-9CA0-5047FD17A8C0}" srcOrd="0" destOrd="3" presId="urn:microsoft.com/office/officeart/2005/8/layout/process5"/>
    <dgm:cxn modelId="{646B4ABE-2E68-4375-B5BF-9C4D1103BDF5}" type="presOf" srcId="{55FE84BC-F5E1-4DA4-A639-194B0D872C2B}" destId="{150B4CB4-FD86-41A4-9CA0-5047FD17A8C0}" srcOrd="0" destOrd="2" presId="urn:microsoft.com/office/officeart/2005/8/layout/process5"/>
    <dgm:cxn modelId="{138F63C3-764E-4206-BBEA-E1F970466B61}" type="presOf" srcId="{BA151C26-11D6-4EEA-B95A-6C96D04B9A21}" destId="{150B4CB4-FD86-41A4-9CA0-5047FD17A8C0}" srcOrd="0" destOrd="0" presId="urn:microsoft.com/office/officeart/2005/8/layout/process5"/>
    <dgm:cxn modelId="{1986F2D4-0BE5-4D13-9E06-B3A9D81C5362}" srcId="{BA151C26-11D6-4EEA-B95A-6C96D04B9A21}" destId="{55FE84BC-F5E1-4DA4-A639-194B0D872C2B}" srcOrd="1" destOrd="0" parTransId="{75F0D890-131A-4DC8-A76C-55B6EECF65E1}" sibTransId="{E73DE61A-4488-4E28-8C65-4B0794622992}"/>
    <dgm:cxn modelId="{7B21F1EF-7F4D-4CE4-A062-BFC705352FE5}" srcId="{BA151C26-11D6-4EEA-B95A-6C96D04B9A21}" destId="{674E09C7-4D08-4DDC-AC2F-9F4246254D1F}" srcOrd="0" destOrd="0" parTransId="{198F7554-BDA0-465C-AE6F-DC1827A8CD44}" sibTransId="{6E0E7300-4249-4096-964A-F9CFE3FA3631}"/>
    <dgm:cxn modelId="{60B76FF0-CD60-4BA5-AAEB-C7FE3442E62D}" type="presOf" srcId="{892E3EA8-D7A0-4EA2-9C05-698BBF3C0F64}" destId="{36B64A02-5038-4D14-BDDD-4DB36AD8FA42}" srcOrd="0" destOrd="0" presId="urn:microsoft.com/office/officeart/2005/8/layout/process5"/>
    <dgm:cxn modelId="{5EEBDEFA-FC03-4655-839E-69F1891DC106}" srcId="{892E3EA8-D7A0-4EA2-9C05-698BBF3C0F64}" destId="{E898EE79-CF5A-415F-B1A7-4CCCFD97F803}" srcOrd="0" destOrd="0" parTransId="{E99B7F9A-41C4-412F-869D-76EE92F2C88E}" sibTransId="{A8F252CB-CFD5-488B-9E81-8B50D3A9E1F9}"/>
    <dgm:cxn modelId="{30BBD3B9-F1BD-4AC9-9798-4EEA68E67128}" type="presParOf" srcId="{36B64A02-5038-4D14-BDDD-4DB36AD8FA42}" destId="{3DCAB324-BD46-4B2B-BEC7-89DA934B1731}" srcOrd="0" destOrd="0" presId="urn:microsoft.com/office/officeart/2005/8/layout/process5"/>
    <dgm:cxn modelId="{75C86952-2938-4F57-9C5B-2212270BB458}" type="presParOf" srcId="{36B64A02-5038-4D14-BDDD-4DB36AD8FA42}" destId="{47EF5DB3-C7F8-4417-929E-00A701E42E0D}" srcOrd="1" destOrd="0" presId="urn:microsoft.com/office/officeart/2005/8/layout/process5"/>
    <dgm:cxn modelId="{E873905A-DD62-4F57-9D13-F39FEC37811F}" type="presParOf" srcId="{47EF5DB3-C7F8-4417-929E-00A701E42E0D}" destId="{3FB3E8E9-1B3F-4C74-B27A-F93A832E7A08}" srcOrd="0" destOrd="0" presId="urn:microsoft.com/office/officeart/2005/8/layout/process5"/>
    <dgm:cxn modelId="{3C0088B6-683E-4040-A49F-93BA328F7C6E}" type="presParOf" srcId="{36B64A02-5038-4D14-BDDD-4DB36AD8FA42}" destId="{150B4CB4-FD86-41A4-9CA0-5047FD17A8C0}" srcOrd="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40C2D0-4780-4907-B6E2-A4175C48AD28}" type="doc">
      <dgm:prSet loTypeId="urn:microsoft.com/office/officeart/2005/8/layout/defaul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7765B1E-D6B6-4D36-BF91-BD50F8CE23A9}">
      <dgm:prSet/>
      <dgm:spPr/>
      <dgm:t>
        <a:bodyPr/>
        <a:lstStyle/>
        <a:p>
          <a:r>
            <a:rPr lang="en-UG" b="0" i="0" baseline="0" dirty="0"/>
            <a:t>BMI positively correlate</a:t>
          </a:r>
          <a:r>
            <a:rPr lang="en-US" b="0" i="0" baseline="0" dirty="0"/>
            <a:t>s</a:t>
          </a:r>
          <a:r>
            <a:rPr lang="en-UG" b="0" i="0" baseline="0" dirty="0"/>
            <a:t> with systolic BP </a:t>
          </a:r>
          <a:endParaRPr lang="en-US" dirty="0"/>
        </a:p>
      </dgm:t>
    </dgm:pt>
    <dgm:pt modelId="{513C8E9F-768B-47B6-9C12-15659CF76D89}" type="parTrans" cxnId="{F9695421-AE9A-45A8-A9E6-E1DFD570508A}">
      <dgm:prSet/>
      <dgm:spPr/>
      <dgm:t>
        <a:bodyPr/>
        <a:lstStyle/>
        <a:p>
          <a:endParaRPr lang="en-US"/>
        </a:p>
      </dgm:t>
    </dgm:pt>
    <dgm:pt modelId="{8B3B40D3-DD6D-43BC-9ACF-13BA3A27599B}" type="sibTrans" cxnId="{F9695421-AE9A-45A8-A9E6-E1DFD570508A}">
      <dgm:prSet/>
      <dgm:spPr/>
      <dgm:t>
        <a:bodyPr/>
        <a:lstStyle/>
        <a:p>
          <a:endParaRPr lang="en-US"/>
        </a:p>
      </dgm:t>
    </dgm:pt>
    <dgm:pt modelId="{4C41E64F-7C1D-4B42-BD85-82E9634BBA07}">
      <dgm:prSet/>
      <dgm:spPr/>
      <dgm:t>
        <a:bodyPr/>
        <a:lstStyle/>
        <a:p>
          <a:r>
            <a:rPr lang="en-UG" b="0" i="0" baseline="0" dirty="0"/>
            <a:t>Family history strongly increase</a:t>
          </a:r>
          <a:r>
            <a:rPr lang="en-US" b="0" i="0" baseline="0" dirty="0"/>
            <a:t>s</a:t>
          </a:r>
          <a:r>
            <a:rPr lang="en-UG" b="0" i="0" baseline="0" dirty="0"/>
            <a:t> diagnostic risk </a:t>
          </a:r>
          <a:endParaRPr lang="en-US" dirty="0"/>
        </a:p>
      </dgm:t>
    </dgm:pt>
    <dgm:pt modelId="{A89AD48E-D3E8-4CDD-BE1E-8EC2D5CA8E51}" type="parTrans" cxnId="{84528DF2-199B-467D-B02A-B92F81D27EC8}">
      <dgm:prSet/>
      <dgm:spPr/>
      <dgm:t>
        <a:bodyPr/>
        <a:lstStyle/>
        <a:p>
          <a:endParaRPr lang="en-US"/>
        </a:p>
      </dgm:t>
    </dgm:pt>
    <dgm:pt modelId="{49742EDD-5454-4E68-9EAE-EE0A68538DA4}" type="sibTrans" cxnId="{84528DF2-199B-467D-B02A-B92F81D27EC8}">
      <dgm:prSet/>
      <dgm:spPr/>
      <dgm:t>
        <a:bodyPr/>
        <a:lstStyle/>
        <a:p>
          <a:endParaRPr lang="en-US"/>
        </a:p>
      </dgm:t>
    </dgm:pt>
    <dgm:pt modelId="{FF9E9E41-FD87-466A-B74E-550C1BF72F40}">
      <dgm:prSet/>
      <dgm:spPr/>
      <dgm:t>
        <a:bodyPr/>
        <a:lstStyle/>
        <a:p>
          <a:r>
            <a:rPr lang="en-UG" b="0" i="0" baseline="0"/>
            <a:t>Higher screen time associated with higher depression scores </a:t>
          </a:r>
          <a:endParaRPr lang="en-US"/>
        </a:p>
      </dgm:t>
    </dgm:pt>
    <dgm:pt modelId="{B91AF1BC-ADF1-4D5F-949F-4ED1667CA366}" type="parTrans" cxnId="{FFA5AA01-1D7E-4FE7-A4ED-94227FD9B9F0}">
      <dgm:prSet/>
      <dgm:spPr/>
      <dgm:t>
        <a:bodyPr/>
        <a:lstStyle/>
        <a:p>
          <a:endParaRPr lang="en-US"/>
        </a:p>
      </dgm:t>
    </dgm:pt>
    <dgm:pt modelId="{64BEEFED-DBE2-4695-B751-E6D83AC3B677}" type="sibTrans" cxnId="{FFA5AA01-1D7E-4FE7-A4ED-94227FD9B9F0}">
      <dgm:prSet/>
      <dgm:spPr/>
      <dgm:t>
        <a:bodyPr/>
        <a:lstStyle/>
        <a:p>
          <a:endParaRPr lang="en-US"/>
        </a:p>
      </dgm:t>
    </dgm:pt>
    <dgm:pt modelId="{B0698A8B-8932-4380-A889-2DA0011A86E1}">
      <dgm:prSet/>
      <dgm:spPr/>
      <dgm:t>
        <a:bodyPr/>
        <a:lstStyle/>
        <a:p>
          <a:r>
            <a:rPr lang="en-UG" b="0" i="0" baseline="0" dirty="0"/>
            <a:t>Cholesterol increase</a:t>
          </a:r>
          <a:r>
            <a:rPr lang="en-US" b="0" i="0" baseline="0" dirty="0"/>
            <a:t>s</a:t>
          </a:r>
          <a:r>
            <a:rPr lang="en-UG" b="0" i="0" baseline="0" dirty="0"/>
            <a:t> across older age groups </a:t>
          </a:r>
          <a:endParaRPr lang="en-US" dirty="0"/>
        </a:p>
      </dgm:t>
    </dgm:pt>
    <dgm:pt modelId="{BED5D252-FBC3-4099-8758-EE6C653E8DD4}" type="parTrans" cxnId="{1F2B3184-DBDE-477C-AA35-FE54E9083C80}">
      <dgm:prSet/>
      <dgm:spPr/>
      <dgm:t>
        <a:bodyPr/>
        <a:lstStyle/>
        <a:p>
          <a:endParaRPr lang="en-US"/>
        </a:p>
      </dgm:t>
    </dgm:pt>
    <dgm:pt modelId="{BF571229-3EB3-4944-B87B-9EAB4B13503E}" type="sibTrans" cxnId="{1F2B3184-DBDE-477C-AA35-FE54E9083C80}">
      <dgm:prSet/>
      <dgm:spPr/>
      <dgm:t>
        <a:bodyPr/>
        <a:lstStyle/>
        <a:p>
          <a:endParaRPr lang="en-US"/>
        </a:p>
      </dgm:t>
    </dgm:pt>
    <dgm:pt modelId="{62D631C4-4F67-4889-82D4-6CEC0E084FCF}">
      <dgm:prSet/>
      <dgm:spPr/>
      <dgm:t>
        <a:bodyPr/>
        <a:lstStyle/>
        <a:p>
          <a:r>
            <a:rPr lang="en-UG" b="0" i="0" baseline="0"/>
            <a:t>Smoking status significantly associated with diagnosis risk </a:t>
          </a:r>
          <a:endParaRPr lang="en-US"/>
        </a:p>
      </dgm:t>
    </dgm:pt>
    <dgm:pt modelId="{EBECBD5B-6986-49A5-BF6D-C7493C9E4A48}" type="parTrans" cxnId="{72708F32-29AF-416F-8F34-80F5E5A326DC}">
      <dgm:prSet/>
      <dgm:spPr/>
      <dgm:t>
        <a:bodyPr/>
        <a:lstStyle/>
        <a:p>
          <a:endParaRPr lang="en-US"/>
        </a:p>
      </dgm:t>
    </dgm:pt>
    <dgm:pt modelId="{071941E6-6C65-4CF6-A9FC-0F6DD619DAA3}" type="sibTrans" cxnId="{72708F32-29AF-416F-8F34-80F5E5A326DC}">
      <dgm:prSet/>
      <dgm:spPr/>
      <dgm:t>
        <a:bodyPr/>
        <a:lstStyle/>
        <a:p>
          <a:endParaRPr lang="en-US"/>
        </a:p>
      </dgm:t>
    </dgm:pt>
    <dgm:pt modelId="{665C72AA-FCFE-4009-97CD-310499904012}" type="pres">
      <dgm:prSet presAssocID="{6240C2D0-4780-4907-B6E2-A4175C48AD28}" presName="diagram" presStyleCnt="0">
        <dgm:presLayoutVars>
          <dgm:dir/>
          <dgm:resizeHandles val="exact"/>
        </dgm:presLayoutVars>
      </dgm:prSet>
      <dgm:spPr/>
    </dgm:pt>
    <dgm:pt modelId="{3FB26968-6781-4FDE-8B83-2F55AE13356C}" type="pres">
      <dgm:prSet presAssocID="{37765B1E-D6B6-4D36-BF91-BD50F8CE23A9}" presName="node" presStyleLbl="node1" presStyleIdx="0" presStyleCnt="5">
        <dgm:presLayoutVars>
          <dgm:bulletEnabled val="1"/>
        </dgm:presLayoutVars>
      </dgm:prSet>
      <dgm:spPr/>
    </dgm:pt>
    <dgm:pt modelId="{7992BBE8-9A3C-4954-98D6-38E57F876D71}" type="pres">
      <dgm:prSet presAssocID="{8B3B40D3-DD6D-43BC-9ACF-13BA3A27599B}" presName="sibTrans" presStyleCnt="0"/>
      <dgm:spPr/>
    </dgm:pt>
    <dgm:pt modelId="{4FC4E1F0-0D58-4686-8C96-1834650F78CC}" type="pres">
      <dgm:prSet presAssocID="{4C41E64F-7C1D-4B42-BD85-82E9634BBA07}" presName="node" presStyleLbl="node1" presStyleIdx="1" presStyleCnt="5">
        <dgm:presLayoutVars>
          <dgm:bulletEnabled val="1"/>
        </dgm:presLayoutVars>
      </dgm:prSet>
      <dgm:spPr/>
    </dgm:pt>
    <dgm:pt modelId="{FC376C03-222E-415E-818A-BFC771CE6327}" type="pres">
      <dgm:prSet presAssocID="{49742EDD-5454-4E68-9EAE-EE0A68538DA4}" presName="sibTrans" presStyleCnt="0"/>
      <dgm:spPr/>
    </dgm:pt>
    <dgm:pt modelId="{1693A0D0-2B13-47F7-8FE3-3DF8E8842D25}" type="pres">
      <dgm:prSet presAssocID="{FF9E9E41-FD87-466A-B74E-550C1BF72F40}" presName="node" presStyleLbl="node1" presStyleIdx="2" presStyleCnt="5">
        <dgm:presLayoutVars>
          <dgm:bulletEnabled val="1"/>
        </dgm:presLayoutVars>
      </dgm:prSet>
      <dgm:spPr/>
    </dgm:pt>
    <dgm:pt modelId="{C2D14413-5D16-4732-899D-5274E0985526}" type="pres">
      <dgm:prSet presAssocID="{64BEEFED-DBE2-4695-B751-E6D83AC3B677}" presName="sibTrans" presStyleCnt="0"/>
      <dgm:spPr/>
    </dgm:pt>
    <dgm:pt modelId="{CA503C75-FF4A-48B2-8B89-4794637248FD}" type="pres">
      <dgm:prSet presAssocID="{B0698A8B-8932-4380-A889-2DA0011A86E1}" presName="node" presStyleLbl="node1" presStyleIdx="3" presStyleCnt="5">
        <dgm:presLayoutVars>
          <dgm:bulletEnabled val="1"/>
        </dgm:presLayoutVars>
      </dgm:prSet>
      <dgm:spPr/>
    </dgm:pt>
    <dgm:pt modelId="{BCC056F2-726C-4356-B904-C78766F2BD1C}" type="pres">
      <dgm:prSet presAssocID="{BF571229-3EB3-4944-B87B-9EAB4B13503E}" presName="sibTrans" presStyleCnt="0"/>
      <dgm:spPr/>
    </dgm:pt>
    <dgm:pt modelId="{B9E4F856-8CCB-47E4-A4CD-AAE48BFFAC98}" type="pres">
      <dgm:prSet presAssocID="{62D631C4-4F67-4889-82D4-6CEC0E084FCF}" presName="node" presStyleLbl="node1" presStyleIdx="4" presStyleCnt="5">
        <dgm:presLayoutVars>
          <dgm:bulletEnabled val="1"/>
        </dgm:presLayoutVars>
      </dgm:prSet>
      <dgm:spPr/>
    </dgm:pt>
  </dgm:ptLst>
  <dgm:cxnLst>
    <dgm:cxn modelId="{FFA5AA01-1D7E-4FE7-A4ED-94227FD9B9F0}" srcId="{6240C2D0-4780-4907-B6E2-A4175C48AD28}" destId="{FF9E9E41-FD87-466A-B74E-550C1BF72F40}" srcOrd="2" destOrd="0" parTransId="{B91AF1BC-ADF1-4D5F-949F-4ED1667CA366}" sibTransId="{64BEEFED-DBE2-4695-B751-E6D83AC3B677}"/>
    <dgm:cxn modelId="{B345BB1C-EF31-4FE4-B0E2-5AC0329F7C42}" type="presOf" srcId="{B0698A8B-8932-4380-A889-2DA0011A86E1}" destId="{CA503C75-FF4A-48B2-8B89-4794637248FD}" srcOrd="0" destOrd="0" presId="urn:microsoft.com/office/officeart/2005/8/layout/default"/>
    <dgm:cxn modelId="{F9695421-AE9A-45A8-A9E6-E1DFD570508A}" srcId="{6240C2D0-4780-4907-B6E2-A4175C48AD28}" destId="{37765B1E-D6B6-4D36-BF91-BD50F8CE23A9}" srcOrd="0" destOrd="0" parTransId="{513C8E9F-768B-47B6-9C12-15659CF76D89}" sibTransId="{8B3B40D3-DD6D-43BC-9ACF-13BA3A27599B}"/>
    <dgm:cxn modelId="{72708F32-29AF-416F-8F34-80F5E5A326DC}" srcId="{6240C2D0-4780-4907-B6E2-A4175C48AD28}" destId="{62D631C4-4F67-4889-82D4-6CEC0E084FCF}" srcOrd="4" destOrd="0" parTransId="{EBECBD5B-6986-49A5-BF6D-C7493C9E4A48}" sibTransId="{071941E6-6C65-4CF6-A9FC-0F6DD619DAA3}"/>
    <dgm:cxn modelId="{21C5943E-45E3-48D1-8AD8-645138093FF1}" type="presOf" srcId="{FF9E9E41-FD87-466A-B74E-550C1BF72F40}" destId="{1693A0D0-2B13-47F7-8FE3-3DF8E8842D25}" srcOrd="0" destOrd="0" presId="urn:microsoft.com/office/officeart/2005/8/layout/default"/>
    <dgm:cxn modelId="{1F2B3184-DBDE-477C-AA35-FE54E9083C80}" srcId="{6240C2D0-4780-4907-B6E2-A4175C48AD28}" destId="{B0698A8B-8932-4380-A889-2DA0011A86E1}" srcOrd="3" destOrd="0" parTransId="{BED5D252-FBC3-4099-8758-EE6C653E8DD4}" sibTransId="{BF571229-3EB3-4944-B87B-9EAB4B13503E}"/>
    <dgm:cxn modelId="{2545728E-1A3F-46C7-A0AA-419C4545719E}" type="presOf" srcId="{62D631C4-4F67-4889-82D4-6CEC0E084FCF}" destId="{B9E4F856-8CCB-47E4-A4CD-AAE48BFFAC98}" srcOrd="0" destOrd="0" presId="urn:microsoft.com/office/officeart/2005/8/layout/default"/>
    <dgm:cxn modelId="{8F1549A0-CD5A-4B63-9B02-8F44C79951F2}" type="presOf" srcId="{37765B1E-D6B6-4D36-BF91-BD50F8CE23A9}" destId="{3FB26968-6781-4FDE-8B83-2F55AE13356C}" srcOrd="0" destOrd="0" presId="urn:microsoft.com/office/officeart/2005/8/layout/default"/>
    <dgm:cxn modelId="{2E10AEA4-5265-409C-8CA0-82FCAB578FF1}" type="presOf" srcId="{4C41E64F-7C1D-4B42-BD85-82E9634BBA07}" destId="{4FC4E1F0-0D58-4686-8C96-1834650F78CC}" srcOrd="0" destOrd="0" presId="urn:microsoft.com/office/officeart/2005/8/layout/default"/>
    <dgm:cxn modelId="{84528DF2-199B-467D-B02A-B92F81D27EC8}" srcId="{6240C2D0-4780-4907-B6E2-A4175C48AD28}" destId="{4C41E64F-7C1D-4B42-BD85-82E9634BBA07}" srcOrd="1" destOrd="0" parTransId="{A89AD48E-D3E8-4CDD-BE1E-8EC2D5CA8E51}" sibTransId="{49742EDD-5454-4E68-9EAE-EE0A68538DA4}"/>
    <dgm:cxn modelId="{D774C8F3-5339-4C87-A686-72A625597623}" type="presOf" srcId="{6240C2D0-4780-4907-B6E2-A4175C48AD28}" destId="{665C72AA-FCFE-4009-97CD-310499904012}" srcOrd="0" destOrd="0" presId="urn:microsoft.com/office/officeart/2005/8/layout/default"/>
    <dgm:cxn modelId="{96A2E050-9C02-40B5-B6AB-DFD5AB9521B3}" type="presParOf" srcId="{665C72AA-FCFE-4009-97CD-310499904012}" destId="{3FB26968-6781-4FDE-8B83-2F55AE13356C}" srcOrd="0" destOrd="0" presId="urn:microsoft.com/office/officeart/2005/8/layout/default"/>
    <dgm:cxn modelId="{410BC6D3-8140-46C8-82ED-9CA50D5DB563}" type="presParOf" srcId="{665C72AA-FCFE-4009-97CD-310499904012}" destId="{7992BBE8-9A3C-4954-98D6-38E57F876D71}" srcOrd="1" destOrd="0" presId="urn:microsoft.com/office/officeart/2005/8/layout/default"/>
    <dgm:cxn modelId="{F25B8963-072B-41DA-98C5-AB0BC2E45E41}" type="presParOf" srcId="{665C72AA-FCFE-4009-97CD-310499904012}" destId="{4FC4E1F0-0D58-4686-8C96-1834650F78CC}" srcOrd="2" destOrd="0" presId="urn:microsoft.com/office/officeart/2005/8/layout/default"/>
    <dgm:cxn modelId="{01864896-8072-485F-BFE9-BD7835EC2B4C}" type="presParOf" srcId="{665C72AA-FCFE-4009-97CD-310499904012}" destId="{FC376C03-222E-415E-818A-BFC771CE6327}" srcOrd="3" destOrd="0" presId="urn:microsoft.com/office/officeart/2005/8/layout/default"/>
    <dgm:cxn modelId="{BF564CB3-239B-4D09-A7CC-6BCDDE5C49ED}" type="presParOf" srcId="{665C72AA-FCFE-4009-97CD-310499904012}" destId="{1693A0D0-2B13-47F7-8FE3-3DF8E8842D25}" srcOrd="4" destOrd="0" presId="urn:microsoft.com/office/officeart/2005/8/layout/default"/>
    <dgm:cxn modelId="{7C47B1D6-D290-445E-A51B-5E5DA7C45402}" type="presParOf" srcId="{665C72AA-FCFE-4009-97CD-310499904012}" destId="{C2D14413-5D16-4732-899D-5274E0985526}" srcOrd="5" destOrd="0" presId="urn:microsoft.com/office/officeart/2005/8/layout/default"/>
    <dgm:cxn modelId="{494A912F-D3B3-4D4D-AAF4-16F94F30C290}" type="presParOf" srcId="{665C72AA-FCFE-4009-97CD-310499904012}" destId="{CA503C75-FF4A-48B2-8B89-4794637248FD}" srcOrd="6" destOrd="0" presId="urn:microsoft.com/office/officeart/2005/8/layout/default"/>
    <dgm:cxn modelId="{AB762A7E-B637-4CBD-AF04-A2E4DCFFE9F2}" type="presParOf" srcId="{665C72AA-FCFE-4009-97CD-310499904012}" destId="{BCC056F2-726C-4356-B904-C78766F2BD1C}" srcOrd="7" destOrd="0" presId="urn:microsoft.com/office/officeart/2005/8/layout/default"/>
    <dgm:cxn modelId="{6D504B64-6904-495B-8B77-DCF7F65615A0}" type="presParOf" srcId="{665C72AA-FCFE-4009-97CD-310499904012}" destId="{B9E4F856-8CCB-47E4-A4CD-AAE48BFFAC9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79A994-2CE4-444E-AC6B-5391E00DD255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88A8B85-D62C-4A71-8316-0081D6AF5214}">
      <dgm:prSet/>
      <dgm:spPr/>
      <dgm:t>
        <a:bodyPr/>
        <a:lstStyle/>
        <a:p>
          <a:r>
            <a:rPr lang="en-UG" b="0" i="0" baseline="0"/>
            <a:t>R Programming </a:t>
          </a:r>
          <a:endParaRPr lang="en-US"/>
        </a:p>
      </dgm:t>
    </dgm:pt>
    <dgm:pt modelId="{32A8D294-D3A5-4FE5-8FE9-CD07F25E96F8}" type="parTrans" cxnId="{3394DE02-811D-455D-8376-1E83CB1AABBD}">
      <dgm:prSet/>
      <dgm:spPr/>
      <dgm:t>
        <a:bodyPr/>
        <a:lstStyle/>
        <a:p>
          <a:endParaRPr lang="en-US"/>
        </a:p>
      </dgm:t>
    </dgm:pt>
    <dgm:pt modelId="{38CA0072-8BFD-46D8-95AA-404ACF8EC142}" type="sibTrans" cxnId="{3394DE02-811D-455D-8376-1E83CB1AABBD}">
      <dgm:prSet/>
      <dgm:spPr/>
      <dgm:t>
        <a:bodyPr/>
        <a:lstStyle/>
        <a:p>
          <a:endParaRPr lang="en-US"/>
        </a:p>
      </dgm:t>
    </dgm:pt>
    <dgm:pt modelId="{8AF2A71F-FC65-47CB-B9F9-7A7FAE987411}">
      <dgm:prSet/>
      <dgm:spPr/>
      <dgm:t>
        <a:bodyPr/>
        <a:lstStyle/>
        <a:p>
          <a:r>
            <a:rPr lang="en-UG" b="0" i="0" baseline="0"/>
            <a:t>Data Cleaning </a:t>
          </a:r>
          <a:endParaRPr lang="en-US"/>
        </a:p>
      </dgm:t>
    </dgm:pt>
    <dgm:pt modelId="{4A7B2460-A748-48AB-8A18-5A5A112EF461}" type="parTrans" cxnId="{6F71338C-A50F-4D2D-BE30-147F7137253D}">
      <dgm:prSet/>
      <dgm:spPr/>
      <dgm:t>
        <a:bodyPr/>
        <a:lstStyle/>
        <a:p>
          <a:endParaRPr lang="en-US"/>
        </a:p>
      </dgm:t>
    </dgm:pt>
    <dgm:pt modelId="{94C7DF42-7E3A-4C91-A295-05C0D488E66A}" type="sibTrans" cxnId="{6F71338C-A50F-4D2D-BE30-147F7137253D}">
      <dgm:prSet/>
      <dgm:spPr/>
      <dgm:t>
        <a:bodyPr/>
        <a:lstStyle/>
        <a:p>
          <a:endParaRPr lang="en-US"/>
        </a:p>
      </dgm:t>
    </dgm:pt>
    <dgm:pt modelId="{71869287-62E2-427B-A43C-B831003B93D9}">
      <dgm:prSet/>
      <dgm:spPr/>
      <dgm:t>
        <a:bodyPr/>
        <a:lstStyle/>
        <a:p>
          <a:r>
            <a:rPr lang="en-UG" b="0" i="0" baseline="0"/>
            <a:t>Exploratory Data Analysis </a:t>
          </a:r>
          <a:endParaRPr lang="en-US"/>
        </a:p>
      </dgm:t>
    </dgm:pt>
    <dgm:pt modelId="{2D032182-5D45-4481-AD4A-0835C53CD621}" type="parTrans" cxnId="{CB6A4EBF-74F2-4382-B931-D862F2FB81BC}">
      <dgm:prSet/>
      <dgm:spPr/>
      <dgm:t>
        <a:bodyPr/>
        <a:lstStyle/>
        <a:p>
          <a:endParaRPr lang="en-US"/>
        </a:p>
      </dgm:t>
    </dgm:pt>
    <dgm:pt modelId="{3864EF96-A8F0-4956-803C-F60091B0D137}" type="sibTrans" cxnId="{CB6A4EBF-74F2-4382-B931-D862F2FB81BC}">
      <dgm:prSet/>
      <dgm:spPr/>
      <dgm:t>
        <a:bodyPr/>
        <a:lstStyle/>
        <a:p>
          <a:endParaRPr lang="en-US"/>
        </a:p>
      </dgm:t>
    </dgm:pt>
    <dgm:pt modelId="{34203BAA-C370-4FA6-BDA0-00792C22E09E}">
      <dgm:prSet/>
      <dgm:spPr/>
      <dgm:t>
        <a:bodyPr/>
        <a:lstStyle/>
        <a:p>
          <a:r>
            <a:rPr lang="en-UG" b="0" i="0" baseline="0"/>
            <a:t>Hypothesis Testing </a:t>
          </a:r>
          <a:endParaRPr lang="en-US"/>
        </a:p>
      </dgm:t>
    </dgm:pt>
    <dgm:pt modelId="{F084322F-FA98-4C58-BF5E-D0A87D845991}" type="parTrans" cxnId="{2266EA63-7C8C-496F-B6BF-AB2693C66EF5}">
      <dgm:prSet/>
      <dgm:spPr/>
      <dgm:t>
        <a:bodyPr/>
        <a:lstStyle/>
        <a:p>
          <a:endParaRPr lang="en-US"/>
        </a:p>
      </dgm:t>
    </dgm:pt>
    <dgm:pt modelId="{3CE776D4-B47E-49F2-9028-8112362CAC55}" type="sibTrans" cxnId="{2266EA63-7C8C-496F-B6BF-AB2693C66EF5}">
      <dgm:prSet/>
      <dgm:spPr/>
      <dgm:t>
        <a:bodyPr/>
        <a:lstStyle/>
        <a:p>
          <a:endParaRPr lang="en-US"/>
        </a:p>
      </dgm:t>
    </dgm:pt>
    <dgm:pt modelId="{FD523F30-5E2F-4C17-B017-5AC9344B9D97}">
      <dgm:prSet/>
      <dgm:spPr/>
      <dgm:t>
        <a:bodyPr/>
        <a:lstStyle/>
        <a:p>
          <a:r>
            <a:rPr lang="en-UG" b="0" i="0" baseline="0"/>
            <a:t>Predictive Modeling </a:t>
          </a:r>
          <a:endParaRPr lang="en-US"/>
        </a:p>
      </dgm:t>
    </dgm:pt>
    <dgm:pt modelId="{91E2A964-4C62-49B0-AC13-F2EFEC166EDA}" type="parTrans" cxnId="{4694C710-D324-47AC-946E-F28BB132E1B1}">
      <dgm:prSet/>
      <dgm:spPr/>
      <dgm:t>
        <a:bodyPr/>
        <a:lstStyle/>
        <a:p>
          <a:endParaRPr lang="en-US"/>
        </a:p>
      </dgm:t>
    </dgm:pt>
    <dgm:pt modelId="{3DCC79FD-A770-4F8D-A508-BA0BCC6A0F9B}" type="sibTrans" cxnId="{4694C710-D324-47AC-946E-F28BB132E1B1}">
      <dgm:prSet/>
      <dgm:spPr/>
      <dgm:t>
        <a:bodyPr/>
        <a:lstStyle/>
        <a:p>
          <a:endParaRPr lang="en-US"/>
        </a:p>
      </dgm:t>
    </dgm:pt>
    <dgm:pt modelId="{94C982C4-3597-4886-A8F3-7F63AB64861F}">
      <dgm:prSet/>
      <dgm:spPr/>
      <dgm:t>
        <a:bodyPr/>
        <a:lstStyle/>
        <a:p>
          <a:r>
            <a:rPr lang="en-UG" b="0" i="0" baseline="0"/>
            <a:t>Data Visualization </a:t>
          </a:r>
          <a:endParaRPr lang="en-US"/>
        </a:p>
      </dgm:t>
    </dgm:pt>
    <dgm:pt modelId="{D1F26A77-AA7F-430B-A4BD-D223AC61C563}" type="parTrans" cxnId="{6AFAD976-CED7-4826-8B99-1A5235BA1516}">
      <dgm:prSet/>
      <dgm:spPr/>
      <dgm:t>
        <a:bodyPr/>
        <a:lstStyle/>
        <a:p>
          <a:endParaRPr lang="en-US"/>
        </a:p>
      </dgm:t>
    </dgm:pt>
    <dgm:pt modelId="{21B5012D-7CB8-4153-827B-E03FE5D48BE1}" type="sibTrans" cxnId="{6AFAD976-CED7-4826-8B99-1A5235BA1516}">
      <dgm:prSet/>
      <dgm:spPr/>
      <dgm:t>
        <a:bodyPr/>
        <a:lstStyle/>
        <a:p>
          <a:endParaRPr lang="en-US"/>
        </a:p>
      </dgm:t>
    </dgm:pt>
    <dgm:pt modelId="{00BE3E1C-A448-4789-95FF-503941DC817C}">
      <dgm:prSet/>
      <dgm:spPr/>
      <dgm:t>
        <a:bodyPr/>
        <a:lstStyle/>
        <a:p>
          <a:r>
            <a:rPr lang="en-UG" b="0" i="0" baseline="0"/>
            <a:t>R Markdown Reporting </a:t>
          </a:r>
          <a:endParaRPr lang="en-US"/>
        </a:p>
      </dgm:t>
    </dgm:pt>
    <dgm:pt modelId="{36EB5993-A1AE-4616-A3BF-AFC2CEA2E167}" type="parTrans" cxnId="{C4F33F5B-7751-4888-94E5-EA385122D313}">
      <dgm:prSet/>
      <dgm:spPr/>
      <dgm:t>
        <a:bodyPr/>
        <a:lstStyle/>
        <a:p>
          <a:endParaRPr lang="en-US"/>
        </a:p>
      </dgm:t>
    </dgm:pt>
    <dgm:pt modelId="{C3957374-1CB4-412E-9676-4EE5F4A2F8E7}" type="sibTrans" cxnId="{C4F33F5B-7751-4888-94E5-EA385122D313}">
      <dgm:prSet/>
      <dgm:spPr/>
      <dgm:t>
        <a:bodyPr/>
        <a:lstStyle/>
        <a:p>
          <a:endParaRPr lang="en-US"/>
        </a:p>
      </dgm:t>
    </dgm:pt>
    <dgm:pt modelId="{23B76C75-59BE-41F8-B39B-172A2E8543C4}">
      <dgm:prSet/>
      <dgm:spPr/>
      <dgm:t>
        <a:bodyPr/>
        <a:lstStyle/>
        <a:p>
          <a:r>
            <a:rPr lang="en-UG" b="0" i="0" baseline="0"/>
            <a:t>Statistical Interpretation </a:t>
          </a:r>
          <a:endParaRPr lang="en-US"/>
        </a:p>
      </dgm:t>
    </dgm:pt>
    <dgm:pt modelId="{4C60BFEE-A9EB-4089-997B-1A4C846D3049}" type="parTrans" cxnId="{BA2348D8-050A-4A6B-8D1C-D7D08122F9BC}">
      <dgm:prSet/>
      <dgm:spPr/>
      <dgm:t>
        <a:bodyPr/>
        <a:lstStyle/>
        <a:p>
          <a:endParaRPr lang="en-US"/>
        </a:p>
      </dgm:t>
    </dgm:pt>
    <dgm:pt modelId="{6C3A93B6-F677-4A17-AF34-84F5EA352946}" type="sibTrans" cxnId="{BA2348D8-050A-4A6B-8D1C-D7D08122F9BC}">
      <dgm:prSet/>
      <dgm:spPr/>
      <dgm:t>
        <a:bodyPr/>
        <a:lstStyle/>
        <a:p>
          <a:endParaRPr lang="en-US"/>
        </a:p>
      </dgm:t>
    </dgm:pt>
    <dgm:pt modelId="{4C832F6E-B858-4E37-B97F-F7E3AAF2A181}" type="pres">
      <dgm:prSet presAssocID="{E279A994-2CE4-444E-AC6B-5391E00DD255}" presName="diagram" presStyleCnt="0">
        <dgm:presLayoutVars>
          <dgm:dir/>
          <dgm:resizeHandles val="exact"/>
        </dgm:presLayoutVars>
      </dgm:prSet>
      <dgm:spPr/>
    </dgm:pt>
    <dgm:pt modelId="{AF09F7F7-5655-48C7-818E-96745BCB4D9C}" type="pres">
      <dgm:prSet presAssocID="{288A8B85-D62C-4A71-8316-0081D6AF5214}" presName="node" presStyleLbl="node1" presStyleIdx="0" presStyleCnt="8">
        <dgm:presLayoutVars>
          <dgm:bulletEnabled val="1"/>
        </dgm:presLayoutVars>
      </dgm:prSet>
      <dgm:spPr/>
    </dgm:pt>
    <dgm:pt modelId="{304EC296-C128-4DAF-B118-D75B36E21DEE}" type="pres">
      <dgm:prSet presAssocID="{38CA0072-8BFD-46D8-95AA-404ACF8EC142}" presName="sibTrans" presStyleCnt="0"/>
      <dgm:spPr/>
    </dgm:pt>
    <dgm:pt modelId="{05B5E562-D225-4EE9-9305-923DA953F711}" type="pres">
      <dgm:prSet presAssocID="{8AF2A71F-FC65-47CB-B9F9-7A7FAE987411}" presName="node" presStyleLbl="node1" presStyleIdx="1" presStyleCnt="8">
        <dgm:presLayoutVars>
          <dgm:bulletEnabled val="1"/>
        </dgm:presLayoutVars>
      </dgm:prSet>
      <dgm:spPr/>
    </dgm:pt>
    <dgm:pt modelId="{A0C87A7C-EA72-4D6C-A963-3397FB71ECDF}" type="pres">
      <dgm:prSet presAssocID="{94C7DF42-7E3A-4C91-A295-05C0D488E66A}" presName="sibTrans" presStyleCnt="0"/>
      <dgm:spPr/>
    </dgm:pt>
    <dgm:pt modelId="{AE1FF9D1-B289-4E9B-9041-BD7DF7A03FEA}" type="pres">
      <dgm:prSet presAssocID="{71869287-62E2-427B-A43C-B831003B93D9}" presName="node" presStyleLbl="node1" presStyleIdx="2" presStyleCnt="8">
        <dgm:presLayoutVars>
          <dgm:bulletEnabled val="1"/>
        </dgm:presLayoutVars>
      </dgm:prSet>
      <dgm:spPr/>
    </dgm:pt>
    <dgm:pt modelId="{32582573-B087-4545-9ADF-C57D52260B2F}" type="pres">
      <dgm:prSet presAssocID="{3864EF96-A8F0-4956-803C-F60091B0D137}" presName="sibTrans" presStyleCnt="0"/>
      <dgm:spPr/>
    </dgm:pt>
    <dgm:pt modelId="{EE6D50D7-6CDE-4603-9BEA-7EDBB5329346}" type="pres">
      <dgm:prSet presAssocID="{34203BAA-C370-4FA6-BDA0-00792C22E09E}" presName="node" presStyleLbl="node1" presStyleIdx="3" presStyleCnt="8">
        <dgm:presLayoutVars>
          <dgm:bulletEnabled val="1"/>
        </dgm:presLayoutVars>
      </dgm:prSet>
      <dgm:spPr/>
    </dgm:pt>
    <dgm:pt modelId="{69E62B6D-BC05-4B5F-A193-61CB2439113E}" type="pres">
      <dgm:prSet presAssocID="{3CE776D4-B47E-49F2-9028-8112362CAC55}" presName="sibTrans" presStyleCnt="0"/>
      <dgm:spPr/>
    </dgm:pt>
    <dgm:pt modelId="{5E5D4F97-1C7E-49DD-ADB3-81308F3B5385}" type="pres">
      <dgm:prSet presAssocID="{FD523F30-5E2F-4C17-B017-5AC9344B9D97}" presName="node" presStyleLbl="node1" presStyleIdx="4" presStyleCnt="8">
        <dgm:presLayoutVars>
          <dgm:bulletEnabled val="1"/>
        </dgm:presLayoutVars>
      </dgm:prSet>
      <dgm:spPr/>
    </dgm:pt>
    <dgm:pt modelId="{0CE5B1B0-0E45-46D9-A83C-65C12A9A26EA}" type="pres">
      <dgm:prSet presAssocID="{3DCC79FD-A770-4F8D-A508-BA0BCC6A0F9B}" presName="sibTrans" presStyleCnt="0"/>
      <dgm:spPr/>
    </dgm:pt>
    <dgm:pt modelId="{E5C17553-F47F-42FE-B09C-A982ECCC1305}" type="pres">
      <dgm:prSet presAssocID="{94C982C4-3597-4886-A8F3-7F63AB64861F}" presName="node" presStyleLbl="node1" presStyleIdx="5" presStyleCnt="8">
        <dgm:presLayoutVars>
          <dgm:bulletEnabled val="1"/>
        </dgm:presLayoutVars>
      </dgm:prSet>
      <dgm:spPr/>
    </dgm:pt>
    <dgm:pt modelId="{F1D69745-7398-4180-BDF2-C3C8DEE75903}" type="pres">
      <dgm:prSet presAssocID="{21B5012D-7CB8-4153-827B-E03FE5D48BE1}" presName="sibTrans" presStyleCnt="0"/>
      <dgm:spPr/>
    </dgm:pt>
    <dgm:pt modelId="{12B78966-4CB7-4B7B-878C-78B909CFFF2F}" type="pres">
      <dgm:prSet presAssocID="{00BE3E1C-A448-4789-95FF-503941DC817C}" presName="node" presStyleLbl="node1" presStyleIdx="6" presStyleCnt="8">
        <dgm:presLayoutVars>
          <dgm:bulletEnabled val="1"/>
        </dgm:presLayoutVars>
      </dgm:prSet>
      <dgm:spPr/>
    </dgm:pt>
    <dgm:pt modelId="{346E3E6B-E5DB-46D7-BDCC-F4915C8AC6E0}" type="pres">
      <dgm:prSet presAssocID="{C3957374-1CB4-412E-9676-4EE5F4A2F8E7}" presName="sibTrans" presStyleCnt="0"/>
      <dgm:spPr/>
    </dgm:pt>
    <dgm:pt modelId="{E0E7C4A9-07DD-47E4-9636-766E7CC8C2E0}" type="pres">
      <dgm:prSet presAssocID="{23B76C75-59BE-41F8-B39B-172A2E8543C4}" presName="node" presStyleLbl="node1" presStyleIdx="7" presStyleCnt="8">
        <dgm:presLayoutVars>
          <dgm:bulletEnabled val="1"/>
        </dgm:presLayoutVars>
      </dgm:prSet>
      <dgm:spPr/>
    </dgm:pt>
  </dgm:ptLst>
  <dgm:cxnLst>
    <dgm:cxn modelId="{3394DE02-811D-455D-8376-1E83CB1AABBD}" srcId="{E279A994-2CE4-444E-AC6B-5391E00DD255}" destId="{288A8B85-D62C-4A71-8316-0081D6AF5214}" srcOrd="0" destOrd="0" parTransId="{32A8D294-D3A5-4FE5-8FE9-CD07F25E96F8}" sibTransId="{38CA0072-8BFD-46D8-95AA-404ACF8EC142}"/>
    <dgm:cxn modelId="{4694C710-D324-47AC-946E-F28BB132E1B1}" srcId="{E279A994-2CE4-444E-AC6B-5391E00DD255}" destId="{FD523F30-5E2F-4C17-B017-5AC9344B9D97}" srcOrd="4" destOrd="0" parTransId="{91E2A964-4C62-49B0-AC13-F2EFEC166EDA}" sibTransId="{3DCC79FD-A770-4F8D-A508-BA0BCC6A0F9B}"/>
    <dgm:cxn modelId="{A743B11B-02F3-4AA3-9417-E56AECCF9F05}" type="presOf" srcId="{FD523F30-5E2F-4C17-B017-5AC9344B9D97}" destId="{5E5D4F97-1C7E-49DD-ADB3-81308F3B5385}" srcOrd="0" destOrd="0" presId="urn:microsoft.com/office/officeart/2005/8/layout/default"/>
    <dgm:cxn modelId="{C4F33F5B-7751-4888-94E5-EA385122D313}" srcId="{E279A994-2CE4-444E-AC6B-5391E00DD255}" destId="{00BE3E1C-A448-4789-95FF-503941DC817C}" srcOrd="6" destOrd="0" parTransId="{36EB5993-A1AE-4616-A3BF-AFC2CEA2E167}" sibTransId="{C3957374-1CB4-412E-9676-4EE5F4A2F8E7}"/>
    <dgm:cxn modelId="{2266EA63-7C8C-496F-B6BF-AB2693C66EF5}" srcId="{E279A994-2CE4-444E-AC6B-5391E00DD255}" destId="{34203BAA-C370-4FA6-BDA0-00792C22E09E}" srcOrd="3" destOrd="0" parTransId="{F084322F-FA98-4C58-BF5E-D0A87D845991}" sibTransId="{3CE776D4-B47E-49F2-9028-8112362CAC55}"/>
    <dgm:cxn modelId="{821F7F50-D649-4F55-BC20-FF503AFA803A}" type="presOf" srcId="{34203BAA-C370-4FA6-BDA0-00792C22E09E}" destId="{EE6D50D7-6CDE-4603-9BEA-7EDBB5329346}" srcOrd="0" destOrd="0" presId="urn:microsoft.com/office/officeart/2005/8/layout/default"/>
    <dgm:cxn modelId="{6AFAD976-CED7-4826-8B99-1A5235BA1516}" srcId="{E279A994-2CE4-444E-AC6B-5391E00DD255}" destId="{94C982C4-3597-4886-A8F3-7F63AB64861F}" srcOrd="5" destOrd="0" parTransId="{D1F26A77-AA7F-430B-A4BD-D223AC61C563}" sibTransId="{21B5012D-7CB8-4153-827B-E03FE5D48BE1}"/>
    <dgm:cxn modelId="{56BAB259-50A6-4E76-B716-68E2842473EF}" type="presOf" srcId="{E279A994-2CE4-444E-AC6B-5391E00DD255}" destId="{4C832F6E-B858-4E37-B97F-F7E3AAF2A181}" srcOrd="0" destOrd="0" presId="urn:microsoft.com/office/officeart/2005/8/layout/default"/>
    <dgm:cxn modelId="{B6849E88-DB84-4A1C-953E-D4272242048C}" type="presOf" srcId="{8AF2A71F-FC65-47CB-B9F9-7A7FAE987411}" destId="{05B5E562-D225-4EE9-9305-923DA953F711}" srcOrd="0" destOrd="0" presId="urn:microsoft.com/office/officeart/2005/8/layout/default"/>
    <dgm:cxn modelId="{6F71338C-A50F-4D2D-BE30-147F7137253D}" srcId="{E279A994-2CE4-444E-AC6B-5391E00DD255}" destId="{8AF2A71F-FC65-47CB-B9F9-7A7FAE987411}" srcOrd="1" destOrd="0" parTransId="{4A7B2460-A748-48AB-8A18-5A5A112EF461}" sibTransId="{94C7DF42-7E3A-4C91-A295-05C0D488E66A}"/>
    <dgm:cxn modelId="{246133A4-DC8C-4B57-8C9C-5B11B8ACD8F1}" type="presOf" srcId="{288A8B85-D62C-4A71-8316-0081D6AF5214}" destId="{AF09F7F7-5655-48C7-818E-96745BCB4D9C}" srcOrd="0" destOrd="0" presId="urn:microsoft.com/office/officeart/2005/8/layout/default"/>
    <dgm:cxn modelId="{645956B7-1A62-41C2-AB26-6BBA951E61DD}" type="presOf" srcId="{23B76C75-59BE-41F8-B39B-172A2E8543C4}" destId="{E0E7C4A9-07DD-47E4-9636-766E7CC8C2E0}" srcOrd="0" destOrd="0" presId="urn:microsoft.com/office/officeart/2005/8/layout/default"/>
    <dgm:cxn modelId="{CB6A4EBF-74F2-4382-B931-D862F2FB81BC}" srcId="{E279A994-2CE4-444E-AC6B-5391E00DD255}" destId="{71869287-62E2-427B-A43C-B831003B93D9}" srcOrd="2" destOrd="0" parTransId="{2D032182-5D45-4481-AD4A-0835C53CD621}" sibTransId="{3864EF96-A8F0-4956-803C-F60091B0D137}"/>
    <dgm:cxn modelId="{1373D4C7-B2A9-4F25-A080-BB6BC797B5B7}" type="presOf" srcId="{71869287-62E2-427B-A43C-B831003B93D9}" destId="{AE1FF9D1-B289-4E9B-9041-BD7DF7A03FEA}" srcOrd="0" destOrd="0" presId="urn:microsoft.com/office/officeart/2005/8/layout/default"/>
    <dgm:cxn modelId="{BA2348D8-050A-4A6B-8D1C-D7D08122F9BC}" srcId="{E279A994-2CE4-444E-AC6B-5391E00DD255}" destId="{23B76C75-59BE-41F8-B39B-172A2E8543C4}" srcOrd="7" destOrd="0" parTransId="{4C60BFEE-A9EB-4089-997B-1A4C846D3049}" sibTransId="{6C3A93B6-F677-4A17-AF34-84F5EA352946}"/>
    <dgm:cxn modelId="{5F7EC8D9-1F61-4878-9932-A3132C1BA9F0}" type="presOf" srcId="{94C982C4-3597-4886-A8F3-7F63AB64861F}" destId="{E5C17553-F47F-42FE-B09C-A982ECCC1305}" srcOrd="0" destOrd="0" presId="urn:microsoft.com/office/officeart/2005/8/layout/default"/>
    <dgm:cxn modelId="{E6B3E4F6-53CE-44A3-8EE6-87565288B680}" type="presOf" srcId="{00BE3E1C-A448-4789-95FF-503941DC817C}" destId="{12B78966-4CB7-4B7B-878C-78B909CFFF2F}" srcOrd="0" destOrd="0" presId="urn:microsoft.com/office/officeart/2005/8/layout/default"/>
    <dgm:cxn modelId="{9C3B0C0F-CDC1-43B5-B649-532213850B17}" type="presParOf" srcId="{4C832F6E-B858-4E37-B97F-F7E3AAF2A181}" destId="{AF09F7F7-5655-48C7-818E-96745BCB4D9C}" srcOrd="0" destOrd="0" presId="urn:microsoft.com/office/officeart/2005/8/layout/default"/>
    <dgm:cxn modelId="{F278F18A-F511-4209-B137-B7A83320ECE1}" type="presParOf" srcId="{4C832F6E-B858-4E37-B97F-F7E3AAF2A181}" destId="{304EC296-C128-4DAF-B118-D75B36E21DEE}" srcOrd="1" destOrd="0" presId="urn:microsoft.com/office/officeart/2005/8/layout/default"/>
    <dgm:cxn modelId="{DC4BB8D4-337A-4418-ADB2-223BC70C3CEF}" type="presParOf" srcId="{4C832F6E-B858-4E37-B97F-F7E3AAF2A181}" destId="{05B5E562-D225-4EE9-9305-923DA953F711}" srcOrd="2" destOrd="0" presId="urn:microsoft.com/office/officeart/2005/8/layout/default"/>
    <dgm:cxn modelId="{F839CF9E-8945-4EEE-82B8-209413A090C5}" type="presParOf" srcId="{4C832F6E-B858-4E37-B97F-F7E3AAF2A181}" destId="{A0C87A7C-EA72-4D6C-A963-3397FB71ECDF}" srcOrd="3" destOrd="0" presId="urn:microsoft.com/office/officeart/2005/8/layout/default"/>
    <dgm:cxn modelId="{6C6831C5-52C6-44BA-B086-26AE7F21FE90}" type="presParOf" srcId="{4C832F6E-B858-4E37-B97F-F7E3AAF2A181}" destId="{AE1FF9D1-B289-4E9B-9041-BD7DF7A03FEA}" srcOrd="4" destOrd="0" presId="urn:microsoft.com/office/officeart/2005/8/layout/default"/>
    <dgm:cxn modelId="{DBFB83DF-7D9A-4A38-B8BF-85060E9B3D6F}" type="presParOf" srcId="{4C832F6E-B858-4E37-B97F-F7E3AAF2A181}" destId="{32582573-B087-4545-9ADF-C57D52260B2F}" srcOrd="5" destOrd="0" presId="urn:microsoft.com/office/officeart/2005/8/layout/default"/>
    <dgm:cxn modelId="{DB19BAB0-3865-4AE3-8D7F-9FC66D8D0DBD}" type="presParOf" srcId="{4C832F6E-B858-4E37-B97F-F7E3AAF2A181}" destId="{EE6D50D7-6CDE-4603-9BEA-7EDBB5329346}" srcOrd="6" destOrd="0" presId="urn:microsoft.com/office/officeart/2005/8/layout/default"/>
    <dgm:cxn modelId="{A4CAF833-AFD1-4F5E-B5BB-30B80BF9737D}" type="presParOf" srcId="{4C832F6E-B858-4E37-B97F-F7E3AAF2A181}" destId="{69E62B6D-BC05-4B5F-A193-61CB2439113E}" srcOrd="7" destOrd="0" presId="urn:microsoft.com/office/officeart/2005/8/layout/default"/>
    <dgm:cxn modelId="{168145F6-19CC-48FD-9214-332C85325E2A}" type="presParOf" srcId="{4C832F6E-B858-4E37-B97F-F7E3AAF2A181}" destId="{5E5D4F97-1C7E-49DD-ADB3-81308F3B5385}" srcOrd="8" destOrd="0" presId="urn:microsoft.com/office/officeart/2005/8/layout/default"/>
    <dgm:cxn modelId="{697B93E5-FBAB-4DF1-8C11-D386F4FD5065}" type="presParOf" srcId="{4C832F6E-B858-4E37-B97F-F7E3AAF2A181}" destId="{0CE5B1B0-0E45-46D9-A83C-65C12A9A26EA}" srcOrd="9" destOrd="0" presId="urn:microsoft.com/office/officeart/2005/8/layout/default"/>
    <dgm:cxn modelId="{422F3FA5-EFC1-493F-8B07-DCA4C208DB99}" type="presParOf" srcId="{4C832F6E-B858-4E37-B97F-F7E3AAF2A181}" destId="{E5C17553-F47F-42FE-B09C-A982ECCC1305}" srcOrd="10" destOrd="0" presId="urn:microsoft.com/office/officeart/2005/8/layout/default"/>
    <dgm:cxn modelId="{2A9D74B9-6D99-4742-8CD5-33A5094D13B6}" type="presParOf" srcId="{4C832F6E-B858-4E37-B97F-F7E3AAF2A181}" destId="{F1D69745-7398-4180-BDF2-C3C8DEE75903}" srcOrd="11" destOrd="0" presId="urn:microsoft.com/office/officeart/2005/8/layout/default"/>
    <dgm:cxn modelId="{BED50C99-202F-45D0-805B-C6B976B54A36}" type="presParOf" srcId="{4C832F6E-B858-4E37-B97F-F7E3AAF2A181}" destId="{12B78966-4CB7-4B7B-878C-78B909CFFF2F}" srcOrd="12" destOrd="0" presId="urn:microsoft.com/office/officeart/2005/8/layout/default"/>
    <dgm:cxn modelId="{A600090C-FB08-4AAE-B4ED-85204B298EE2}" type="presParOf" srcId="{4C832F6E-B858-4E37-B97F-F7E3AAF2A181}" destId="{346E3E6B-E5DB-46D7-BDCC-F4915C8AC6E0}" srcOrd="13" destOrd="0" presId="urn:microsoft.com/office/officeart/2005/8/layout/default"/>
    <dgm:cxn modelId="{92F4C439-EFD0-4716-8621-5F51148C626B}" type="presParOf" srcId="{4C832F6E-B858-4E37-B97F-F7E3AAF2A181}" destId="{E0E7C4A9-07DD-47E4-9636-766E7CC8C2E0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CAB324-BD46-4B2B-BEC7-89DA934B1731}">
      <dsp:nvSpPr>
        <dsp:cNvPr id="0" name=""/>
        <dsp:cNvSpPr/>
      </dsp:nvSpPr>
      <dsp:spPr>
        <a:xfrm>
          <a:off x="1190" y="669458"/>
          <a:ext cx="2539007" cy="15234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What are the min, max and quartile values for systolicBP?</a:t>
          </a:r>
          <a:endParaRPr lang="en-US" sz="1200" kern="1200"/>
        </a:p>
      </dsp:txBody>
      <dsp:txXfrm>
        <a:off x="45809" y="714077"/>
        <a:ext cx="2449769" cy="1434166"/>
      </dsp:txXfrm>
    </dsp:sp>
    <dsp:sp modelId="{47EF5DB3-C7F8-4417-929E-00A701E42E0D}">
      <dsp:nvSpPr>
        <dsp:cNvPr id="0" name=""/>
        <dsp:cNvSpPr/>
      </dsp:nvSpPr>
      <dsp:spPr>
        <a:xfrm>
          <a:off x="2763631" y="1116324"/>
          <a:ext cx="538269" cy="6296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763631" y="1242259"/>
        <a:ext cx="376788" cy="377803"/>
      </dsp:txXfrm>
    </dsp:sp>
    <dsp:sp modelId="{150B4CB4-FD86-41A4-9CA0-5047FD17A8C0}">
      <dsp:nvSpPr>
        <dsp:cNvPr id="0" name=""/>
        <dsp:cNvSpPr/>
      </dsp:nvSpPr>
      <dsp:spPr>
        <a:xfrm>
          <a:off x="3555801" y="669458"/>
          <a:ext cx="2539007" cy="15234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image below indicates the following;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Participants BP centers at 145.1 which is high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Over 75% of the sampled population falls into hypertensive ranges (153.6), with the top quarter facing severe Stage 2 elevations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Individual readings span from a healthy minimum of 108.8 mmHg to a life-threatening maximum of 187.3 mmHg.</a:t>
          </a:r>
        </a:p>
      </dsp:txBody>
      <dsp:txXfrm>
        <a:off x="3600420" y="714077"/>
        <a:ext cx="2449769" cy="14341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B26968-6781-4FDE-8B83-2F55AE13356C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G" sz="3000" b="0" i="0" kern="1200" baseline="0" dirty="0"/>
            <a:t>BMI positively correlate</a:t>
          </a:r>
          <a:r>
            <a:rPr lang="en-US" sz="3000" b="0" i="0" kern="1200" baseline="0" dirty="0"/>
            <a:t>s</a:t>
          </a:r>
          <a:r>
            <a:rPr lang="en-UG" sz="3000" b="0" i="0" kern="1200" baseline="0" dirty="0"/>
            <a:t> with systolic BP </a:t>
          </a:r>
          <a:endParaRPr lang="en-US" sz="3000" kern="1200" dirty="0"/>
        </a:p>
      </dsp:txBody>
      <dsp:txXfrm>
        <a:off x="0" y="39687"/>
        <a:ext cx="3286125" cy="1971675"/>
      </dsp:txXfrm>
    </dsp:sp>
    <dsp:sp modelId="{4FC4E1F0-0D58-4686-8C96-1834650F78CC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G" sz="3000" b="0" i="0" kern="1200" baseline="0" dirty="0"/>
            <a:t>Family history strongly increase</a:t>
          </a:r>
          <a:r>
            <a:rPr lang="en-US" sz="3000" b="0" i="0" kern="1200" baseline="0" dirty="0"/>
            <a:t>s</a:t>
          </a:r>
          <a:r>
            <a:rPr lang="en-UG" sz="3000" b="0" i="0" kern="1200" baseline="0" dirty="0"/>
            <a:t> diagnostic risk </a:t>
          </a:r>
          <a:endParaRPr lang="en-US" sz="3000" kern="1200" dirty="0"/>
        </a:p>
      </dsp:txBody>
      <dsp:txXfrm>
        <a:off x="3614737" y="39687"/>
        <a:ext cx="3286125" cy="1971675"/>
      </dsp:txXfrm>
    </dsp:sp>
    <dsp:sp modelId="{1693A0D0-2B13-47F7-8FE3-3DF8E8842D25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G" sz="3000" b="0" i="0" kern="1200" baseline="0"/>
            <a:t>Higher screen time associated with higher depression scores </a:t>
          </a:r>
          <a:endParaRPr lang="en-US" sz="3000" kern="1200"/>
        </a:p>
      </dsp:txBody>
      <dsp:txXfrm>
        <a:off x="7229475" y="39687"/>
        <a:ext cx="3286125" cy="1971675"/>
      </dsp:txXfrm>
    </dsp:sp>
    <dsp:sp modelId="{CA503C75-FF4A-48B2-8B89-4794637248FD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G" sz="3000" b="0" i="0" kern="1200" baseline="0" dirty="0"/>
            <a:t>Cholesterol increase</a:t>
          </a:r>
          <a:r>
            <a:rPr lang="en-US" sz="3000" b="0" i="0" kern="1200" baseline="0" dirty="0"/>
            <a:t>s</a:t>
          </a:r>
          <a:r>
            <a:rPr lang="en-UG" sz="3000" b="0" i="0" kern="1200" baseline="0" dirty="0"/>
            <a:t> across older age groups </a:t>
          </a:r>
          <a:endParaRPr lang="en-US" sz="3000" kern="1200" dirty="0"/>
        </a:p>
      </dsp:txBody>
      <dsp:txXfrm>
        <a:off x="1807368" y="2339975"/>
        <a:ext cx="3286125" cy="1971675"/>
      </dsp:txXfrm>
    </dsp:sp>
    <dsp:sp modelId="{B9E4F856-8CCB-47E4-A4CD-AAE48BFFAC98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G" sz="3000" b="0" i="0" kern="1200" baseline="0"/>
            <a:t>Smoking status significantly associated with diagnosis risk </a:t>
          </a:r>
          <a:endParaRPr lang="en-US" sz="3000" kern="1200"/>
        </a:p>
      </dsp:txBody>
      <dsp:txXfrm>
        <a:off x="5422106" y="2339975"/>
        <a:ext cx="3286125" cy="19716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09F7F7-5655-48C7-818E-96745BCB4D9C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G" sz="2900" b="0" i="0" kern="1200" baseline="0"/>
            <a:t>R Programming </a:t>
          </a:r>
          <a:endParaRPr lang="en-US" sz="2900" kern="1200"/>
        </a:p>
      </dsp:txBody>
      <dsp:txXfrm>
        <a:off x="3080" y="587032"/>
        <a:ext cx="2444055" cy="1466433"/>
      </dsp:txXfrm>
    </dsp:sp>
    <dsp:sp modelId="{05B5E562-D225-4EE9-9305-923DA953F711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G" sz="2900" b="0" i="0" kern="1200" baseline="0"/>
            <a:t>Data Cleaning </a:t>
          </a:r>
          <a:endParaRPr lang="en-US" sz="2900" kern="1200"/>
        </a:p>
      </dsp:txBody>
      <dsp:txXfrm>
        <a:off x="2691541" y="587032"/>
        <a:ext cx="2444055" cy="1466433"/>
      </dsp:txXfrm>
    </dsp:sp>
    <dsp:sp modelId="{AE1FF9D1-B289-4E9B-9041-BD7DF7A03FEA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G" sz="2900" b="0" i="0" kern="1200" baseline="0"/>
            <a:t>Exploratory Data Analysis </a:t>
          </a:r>
          <a:endParaRPr lang="en-US" sz="2900" kern="1200"/>
        </a:p>
      </dsp:txBody>
      <dsp:txXfrm>
        <a:off x="5380002" y="587032"/>
        <a:ext cx="2444055" cy="1466433"/>
      </dsp:txXfrm>
    </dsp:sp>
    <dsp:sp modelId="{EE6D50D7-6CDE-4603-9BEA-7EDBB5329346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G" sz="2900" b="0" i="0" kern="1200" baseline="0"/>
            <a:t>Hypothesis Testing </a:t>
          </a:r>
          <a:endParaRPr lang="en-US" sz="2900" kern="1200"/>
        </a:p>
      </dsp:txBody>
      <dsp:txXfrm>
        <a:off x="8068463" y="587032"/>
        <a:ext cx="2444055" cy="1466433"/>
      </dsp:txXfrm>
    </dsp:sp>
    <dsp:sp modelId="{5E5D4F97-1C7E-49DD-ADB3-81308F3B5385}">
      <dsp:nvSpPr>
        <dsp:cNvPr id="0" name=""/>
        <dsp:cNvSpPr/>
      </dsp:nvSpPr>
      <dsp:spPr>
        <a:xfrm>
          <a:off x="3080" y="2297871"/>
          <a:ext cx="2444055" cy="146643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G" sz="2900" b="0" i="0" kern="1200" baseline="0"/>
            <a:t>Predictive Modeling </a:t>
          </a:r>
          <a:endParaRPr lang="en-US" sz="2900" kern="1200"/>
        </a:p>
      </dsp:txBody>
      <dsp:txXfrm>
        <a:off x="3080" y="2297871"/>
        <a:ext cx="2444055" cy="1466433"/>
      </dsp:txXfrm>
    </dsp:sp>
    <dsp:sp modelId="{E5C17553-F47F-42FE-B09C-A982ECCC1305}">
      <dsp:nvSpPr>
        <dsp:cNvPr id="0" name=""/>
        <dsp:cNvSpPr/>
      </dsp:nvSpPr>
      <dsp:spPr>
        <a:xfrm>
          <a:off x="2691541" y="2297871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G" sz="2900" b="0" i="0" kern="1200" baseline="0"/>
            <a:t>Data Visualization </a:t>
          </a:r>
          <a:endParaRPr lang="en-US" sz="2900" kern="1200"/>
        </a:p>
      </dsp:txBody>
      <dsp:txXfrm>
        <a:off x="2691541" y="2297871"/>
        <a:ext cx="2444055" cy="1466433"/>
      </dsp:txXfrm>
    </dsp:sp>
    <dsp:sp modelId="{12B78966-4CB7-4B7B-878C-78B909CFFF2F}">
      <dsp:nvSpPr>
        <dsp:cNvPr id="0" name=""/>
        <dsp:cNvSpPr/>
      </dsp:nvSpPr>
      <dsp:spPr>
        <a:xfrm>
          <a:off x="5380002" y="2297871"/>
          <a:ext cx="2444055" cy="146643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G" sz="2900" b="0" i="0" kern="1200" baseline="0"/>
            <a:t>R Markdown Reporting </a:t>
          </a:r>
          <a:endParaRPr lang="en-US" sz="2900" kern="1200"/>
        </a:p>
      </dsp:txBody>
      <dsp:txXfrm>
        <a:off x="5380002" y="2297871"/>
        <a:ext cx="2444055" cy="1466433"/>
      </dsp:txXfrm>
    </dsp:sp>
    <dsp:sp modelId="{E0E7C4A9-07DD-47E4-9636-766E7CC8C2E0}">
      <dsp:nvSpPr>
        <dsp:cNvPr id="0" name=""/>
        <dsp:cNvSpPr/>
      </dsp:nvSpPr>
      <dsp:spPr>
        <a:xfrm>
          <a:off x="8068463" y="2297871"/>
          <a:ext cx="2444055" cy="146643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G" sz="2900" b="0" i="0" kern="1200" baseline="0"/>
            <a:t>Statistical Interpretation </a:t>
          </a:r>
          <a:endParaRPr lang="en-US" sz="2900" kern="1200"/>
        </a:p>
      </dsp:txBody>
      <dsp:txXfrm>
        <a:off x="8068463" y="2297871"/>
        <a:ext cx="2444055" cy="146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E942A-5406-4332-A010-69204F97AD42}" type="datetimeFigureOut">
              <a:rPr lang="en-UG" smtClean="0"/>
              <a:t>14/05/2026</a:t>
            </a:fld>
            <a:endParaRPr lang="en-U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DDF35-8917-40E6-BFDD-F89B91D587A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04950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DDF35-8917-40E6-BFDD-F89B91D587A4}" type="slidenum">
              <a:rPr lang="en-UG" smtClean="0"/>
              <a:t>24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37573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26DB-3E34-8437-1C8B-1B3441710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3E3F7-7BB4-119C-E8A0-7AE45DB24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F6E10-9777-B45C-62AC-748416EC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BD60-2A12-45F9-853B-E2D6961DBDB7}" type="datetimeFigureOut">
              <a:rPr lang="en-UG" smtClean="0"/>
              <a:t>14/05/2026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348CF-DF7E-BA6B-FF50-74A91EFA3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9717E-8821-B820-411B-50120938D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176E-260B-4510-8012-05E2398F774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14026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C9E9-874D-1CC4-0B62-97830C7DE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22795-240F-4245-D262-E76455CCE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72DD2-48E4-7EA5-FA53-73F022629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BD60-2A12-45F9-853B-E2D6961DBDB7}" type="datetimeFigureOut">
              <a:rPr lang="en-UG" smtClean="0"/>
              <a:t>14/05/2026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934AB-367E-DC5B-DD69-35AA15DE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BF8B7-C9E4-D79E-B2D4-EEE172C0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176E-260B-4510-8012-05E2398F774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1536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E135C-F467-8655-E1F6-7D30FA4E6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BF871-E4F9-06B3-D3D1-7A12AC2F2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14A44-5C6A-CD85-825E-A96799B03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BD60-2A12-45F9-853B-E2D6961DBDB7}" type="datetimeFigureOut">
              <a:rPr lang="en-UG" smtClean="0"/>
              <a:t>14/05/2026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C782F-6846-E18E-E67C-4FC608CD7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A44FF-C31F-20CF-2874-C79408A8F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176E-260B-4510-8012-05E2398F774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00669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E57A5-C671-1F57-6F41-FE8BA3702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A8FB2-9FF2-8204-5CF0-270036B9E3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FAF58-5509-AD0D-7103-5B6A42C7F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0C723-B7F0-D097-7727-C95A780EB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BD60-2A12-45F9-853B-E2D6961DBDB7}" type="datetimeFigureOut">
              <a:rPr lang="en-UG" smtClean="0"/>
              <a:t>14/05/2026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4ACC4-35EA-6FD9-6134-8B08BF31D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A6915-D03D-E509-612C-9A9616C2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176E-260B-4510-8012-05E2398F774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25895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C5BF-7D92-DABF-598D-40B66EE8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27733-E6C8-DAD1-E82B-FB89062F3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677CF-B0EB-F6BE-D63A-A7583A64E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CE0834-6488-0C70-AFDC-DCF797CE1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42CCFF-7B75-D2AA-370E-AB78D284A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934AC7-6253-7334-0129-D3CFE472A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BD60-2A12-45F9-853B-E2D6961DBDB7}" type="datetimeFigureOut">
              <a:rPr lang="en-UG" smtClean="0"/>
              <a:t>14/05/2026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1B2B44-1C16-4B8E-2C80-BC1369E7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973F13-654A-DBB3-AA5B-8A529F6D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176E-260B-4510-8012-05E2398F774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54127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ABA62-1543-E690-D4A3-5A7B2918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9AD68-5410-3257-B7A9-6F75C086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BD60-2A12-45F9-853B-E2D6961DBDB7}" type="datetimeFigureOut">
              <a:rPr lang="en-UG" smtClean="0"/>
              <a:t>14/05/2026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318AB-77DB-28A9-C43B-E3174170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FA4B6-B916-8417-2E6E-A6DD97616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176E-260B-4510-8012-05E2398F774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45647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436E0D-E3DE-C615-4056-9716A43F4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BD60-2A12-45F9-853B-E2D6961DBDB7}" type="datetimeFigureOut">
              <a:rPr lang="en-UG" smtClean="0"/>
              <a:t>14/05/2026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AE5CC1-0E96-C9A0-DCFD-52366757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05B95-EB00-982E-5D6C-0B2B70716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176E-260B-4510-8012-05E2398F774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00291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77714-2C6B-05C7-33E7-4BF2AA56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1FF89-F79E-7AEF-770E-D889376A3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DD937-4926-C889-8D27-3DEF01993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48999-CE99-5D85-BFF3-B75EED95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BD60-2A12-45F9-853B-E2D6961DBDB7}" type="datetimeFigureOut">
              <a:rPr lang="en-UG" smtClean="0"/>
              <a:t>14/05/2026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3C576-94A8-D04B-CEA5-E5C67CD3A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9549A-32E5-3FA3-2614-2B3EF02B9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176E-260B-4510-8012-05E2398F774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50352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95B5-3063-3C51-F62B-1E6DCD9FD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9003E0-9A68-3D9E-3E84-A7A596DE0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279A1-A291-7132-EC2F-8452320C1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EF110-5CF9-1CB6-CB55-CA01B7A6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BD60-2A12-45F9-853B-E2D6961DBDB7}" type="datetimeFigureOut">
              <a:rPr lang="en-UG" smtClean="0"/>
              <a:t>14/05/2026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0BFA0-603C-6DB2-DF02-AE7D12D4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218CA-C10F-8F7A-D194-B70C4D2EA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176E-260B-4510-8012-05E2398F774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213095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A008-E38D-F05C-CC33-F4EC26B9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F7C16-5DB8-D672-9DAB-9E08E2319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220EE-688F-8B76-E231-211FCC56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BD60-2A12-45F9-853B-E2D6961DBDB7}" type="datetimeFigureOut">
              <a:rPr lang="en-UG" smtClean="0"/>
              <a:t>14/05/2026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F774B-4EC0-4FA1-02BE-F83F3527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F7CD2-03F8-6A2F-8913-F7F88817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176E-260B-4510-8012-05E2398F774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01418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1603FC-809E-0EB0-21E2-C6A6A2AE4D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0E7ADE-4FDD-E52D-DE28-144211B08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8F0E4-EFA0-9A52-6CD9-4087A96BE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BD60-2A12-45F9-853B-E2D6961DBDB7}" type="datetimeFigureOut">
              <a:rPr lang="en-UG" smtClean="0"/>
              <a:t>14/05/2026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37B00-80CF-CB58-D292-895EF0363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908F9-9293-5D83-C964-7F31530B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176E-260B-4510-8012-05E2398F774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74700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61C2CE-1AAD-6612-3981-EAB3F2737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D87ED-F761-79FA-C13E-4D34985DE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62325-D530-B2CA-BEBA-B4EF9FDB39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1BD60-2A12-45F9-853B-E2D6961DBDB7}" type="datetimeFigureOut">
              <a:rPr lang="en-UG" smtClean="0"/>
              <a:t>14/05/2026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83808-F6E8-2900-9C26-10720814A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9DDFE-2459-B1B7-F58A-F12973228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5176E-260B-4510-8012-05E2398F774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1436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6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29AA28-6B73-D7B1-560F-47B6B7BEE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Community Health:</a:t>
            </a:r>
            <a:br>
              <a:rPr lang="en-UG" sz="4800"/>
            </a:br>
            <a:endParaRPr lang="en-UG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699CE-1F96-39AB-C8AB-48FAD3358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Statistical Analysis Report</a:t>
            </a:r>
          </a:p>
          <a:p>
            <a:pPr algn="l"/>
            <a:r>
              <a:rPr lang="en-US" sz="2000"/>
              <a:t>Andrew Tumwesigye</a:t>
            </a:r>
            <a:endParaRPr lang="en-UG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 descr="One in a crowd">
            <a:extLst>
              <a:ext uri="{FF2B5EF4-FFF2-40B4-BE49-F238E27FC236}">
                <a16:creationId xmlns:a16="http://schemas.microsoft.com/office/drawing/2014/main" id="{EAC4CA40-C280-F10E-8460-7E34E34E98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34" b="17266"/>
          <a:stretch>
            <a:fillRect/>
          </a:stretch>
        </p:blipFill>
        <p:spPr>
          <a:xfrm>
            <a:off x="4864608" y="1427833"/>
            <a:ext cx="6846363" cy="385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156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8DEC3-0BE8-1CD0-8B8D-1A4C3B4BF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Background</a:t>
            </a:r>
            <a:endParaRPr lang="en-UG" sz="4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DF117-DEF7-3F69-9771-7FEBD9477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1700"/>
              <a:t>This is a </a:t>
            </a:r>
            <a:r>
              <a:rPr lang="en-US" sz="1700" b="1"/>
              <a:t>synthetic health and lifestyle dataset</a:t>
            </a:r>
            <a:r>
              <a:rPr lang="en-US" sz="1700"/>
              <a:t> designed to simulate real-world population data for statistical analysis and predictive modeling. It combines demographic, behavioral, physiological, and genetic variables to reflect how multiple factors interact to influence health outcomes.</a:t>
            </a:r>
          </a:p>
          <a:p>
            <a:r>
              <a:rPr lang="en-US" sz="1700"/>
              <a:t>The dataset includes both </a:t>
            </a:r>
            <a:r>
              <a:rPr lang="en-US" sz="1700" b="1"/>
              <a:t>numerical and categorical variables</a:t>
            </a:r>
            <a:r>
              <a:rPr lang="en-US" sz="1700"/>
              <a:t>, allowing for a wide range of analyses such as t-tests, ANOVA, chi-square tests, regression modeling, and classification. Key health indicators like BMI, blood pressure, cholesterol, and glucose levels support medical-style interpretation, while behavioral factors such as exercise, sleep, smoking, and alcohol consumption add lifestyle context.</a:t>
            </a:r>
          </a:p>
          <a:p>
            <a:r>
              <a:rPr lang="en-US" sz="1700"/>
              <a:t>A binary outcome variable, </a:t>
            </a:r>
            <a:r>
              <a:rPr lang="en-US" sz="1700" b="1"/>
              <a:t>DiagnosisRisk</a:t>
            </a:r>
            <a:r>
              <a:rPr lang="en-US" sz="1700"/>
              <a:t>, enables logistic regression and classification analysis, while the inclusion of time-based data allows for trend and forecasting exploration.</a:t>
            </a:r>
          </a:p>
          <a:p>
            <a:r>
              <a:rPr lang="en-US" sz="1700"/>
              <a:t>Overall, the dataset was built to be </a:t>
            </a:r>
            <a:r>
              <a:rPr lang="en-US" sz="1700" b="1"/>
              <a:t>analytically rich and realistic in structure</a:t>
            </a:r>
            <a:r>
              <a:rPr lang="en-US" sz="1700"/>
              <a:t>, supporting both exploratory and advanced statistical techniques.</a:t>
            </a:r>
          </a:p>
          <a:p>
            <a:endParaRPr lang="en-UG" sz="1700"/>
          </a:p>
        </p:txBody>
      </p:sp>
    </p:spTree>
    <p:extLst>
      <p:ext uri="{BB962C8B-B14F-4D97-AF65-F5344CB8AC3E}">
        <p14:creationId xmlns:p14="http://schemas.microsoft.com/office/powerpoint/2010/main" val="2885142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FECB0-A859-C52F-2A85-9043ED2FE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br>
              <a:rPr lang="en-US" sz="3400"/>
            </a:br>
            <a:r>
              <a:rPr lang="en-US" sz="3400"/>
              <a:t>Tool utilized</a:t>
            </a:r>
            <a:endParaRPr lang="en-UG" sz="34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3456D-E0E3-1BA1-BF1F-F15162F2C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/>
              <a:t>This analysis was conducted using </a:t>
            </a:r>
            <a:r>
              <a:rPr lang="en-US" sz="1500" b="1"/>
              <a:t>R</a:t>
            </a:r>
            <a:r>
              <a:rPr lang="en-US" sz="1500"/>
              <a:t>, which supported the full data workflow from start to finish. </a:t>
            </a:r>
          </a:p>
          <a:p>
            <a:r>
              <a:rPr lang="en-US" sz="1500" b="1"/>
              <a:t>Data ingestion &amp; cleaning</a:t>
            </a:r>
            <a:r>
              <a:rPr lang="en-US" sz="1500"/>
              <a:t>, ensuring the dataset was analysis-ready.</a:t>
            </a:r>
          </a:p>
          <a:p>
            <a:r>
              <a:rPr lang="en-US" sz="1500" b="1"/>
              <a:t>Statistical analysis and modeling</a:t>
            </a:r>
            <a:r>
              <a:rPr lang="en-US" sz="1500"/>
              <a:t>, including hypothesis testing, regression, and exploratory data analysis.</a:t>
            </a:r>
          </a:p>
          <a:p>
            <a:r>
              <a:rPr lang="en-US" sz="1500" b="1"/>
              <a:t>Data visualization</a:t>
            </a:r>
            <a:r>
              <a:rPr lang="en-US" sz="1500"/>
              <a:t> to support pattern discovery and interpretation of results.</a:t>
            </a:r>
          </a:p>
          <a:p>
            <a:r>
              <a:rPr lang="en-US" sz="1500" b="1"/>
              <a:t>R Markdown environment</a:t>
            </a:r>
            <a:r>
              <a:rPr lang="en-US" sz="1500"/>
              <a:t> to integrate code, analysis outputs, and narrative text into a structured and reproducible report.</a:t>
            </a:r>
          </a:p>
          <a:p>
            <a:endParaRPr lang="en-UG" sz="15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56DC3-10A3-DCC4-48F4-0FEB3E633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646307"/>
            <a:ext cx="6440424" cy="351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39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DA207-B718-6D23-2E45-D1DBCDBF3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Phase1: loading the dataset</a:t>
            </a:r>
            <a:endParaRPr lang="en-UG" sz="3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9B971-CC30-E4D9-E434-5DEFF4C9E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/>
              <a:t>Identify working directory</a:t>
            </a:r>
          </a:p>
          <a:p>
            <a:pPr lvl="1"/>
            <a:r>
              <a:rPr lang="en-US" sz="1800"/>
              <a:t>Main folder where subfolders are stored</a:t>
            </a:r>
          </a:p>
          <a:p>
            <a:r>
              <a:rPr lang="en-US" sz="1800"/>
              <a:t>Verify data files exist</a:t>
            </a:r>
          </a:p>
          <a:p>
            <a:pPr lvl="1"/>
            <a:r>
              <a:rPr lang="en-US" sz="1800"/>
              <a:t>List files in the subfolder to verify data is there</a:t>
            </a:r>
          </a:p>
          <a:p>
            <a:r>
              <a:rPr lang="en-US" sz="1800"/>
              <a:t>Load the data</a:t>
            </a:r>
          </a:p>
          <a:p>
            <a:pPr lvl="1"/>
            <a:r>
              <a:rPr lang="en-US" sz="1800"/>
              <a:t>Read the CSV file into R and preview the first few rows</a:t>
            </a:r>
          </a:p>
          <a:p>
            <a:pPr marL="0" indent="0">
              <a:buNone/>
            </a:pPr>
            <a:endParaRPr lang="en-UG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AB1D4A-4D46-D4B0-A7D4-64E89D367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477246"/>
            <a:ext cx="6440424" cy="384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525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3926C-6D04-48C1-1EF3-1EA823E3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Phase2: Analysis &amp; Findings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0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896DE-20D7-741E-7544-74A46DCF1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latin typeface="+mj-lt"/>
                <a:ea typeface="+mj-ea"/>
                <a:cs typeface="+mj-cs"/>
              </a:rPr>
              <a:t>Average BMI across different Age Groups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1DC3F-76C8-5DDB-DD2A-EE239A485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500"/>
              <a:t>The goal here is to establish how BMI fluctuates by age group.</a:t>
            </a:r>
          </a:p>
          <a:p>
            <a:pPr>
              <a:spcAft>
                <a:spcPts val="600"/>
              </a:spcAft>
            </a:pPr>
            <a:r>
              <a:rPr lang="en-US" sz="1500"/>
              <a:t>Using the cut, break and labels function, I created age groups from participant ages and then created a new age group column using mutate function .</a:t>
            </a:r>
          </a:p>
          <a:p>
            <a:pPr>
              <a:spcAft>
                <a:spcPts val="600"/>
              </a:spcAft>
            </a:pPr>
            <a:r>
              <a:rPr lang="en-US" sz="1500"/>
              <a:t>I calculated the average BMI and grouped by the new age group column as indicated in the chart.</a:t>
            </a:r>
          </a:p>
          <a:p>
            <a:pPr>
              <a:spcAft>
                <a:spcPts val="600"/>
              </a:spcAft>
            </a:pPr>
            <a:r>
              <a:rPr lang="en-US" sz="1500"/>
              <a:t>Findings indicate that age group 56-65 has the highest BMI readings while 46-55 has the lowest with 18-35 slightly above 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6F2732-8420-F4C2-BC7F-50C2AAFED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792951"/>
            <a:ext cx="6440424" cy="521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60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37AFF-85E6-3308-0685-EFDCB006A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027E3AA-0390-C8E5-A8C5-B55B065DA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0C062D-A0A9-BEDC-9226-BC82FC33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/>
              <a:t>Glucose &amp; Systolic-BP summary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884AEC-0EC5-83F1-1AA9-A9BE8030A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87BA61-6F02-F5A7-EBD5-7EC4524F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990B2-956E-50A2-5C0E-746458FF0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4095"/>
            <a:ext cx="4799617" cy="31824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800" b="1" dirty="0"/>
              <a:t>What is the standard deviation of glucose levels?</a:t>
            </a:r>
          </a:p>
          <a:p>
            <a:pPr marL="285750" indent="-285750"/>
            <a:r>
              <a:rPr lang="en-US" sz="1800" dirty="0"/>
              <a:t>The purpose of </a:t>
            </a:r>
            <a:r>
              <a:rPr lang="en-US" sz="1800" b="1" dirty="0" err="1"/>
              <a:t>sd</a:t>
            </a:r>
            <a:r>
              <a:rPr lang="en-US" sz="1800" dirty="0"/>
              <a:t> is to calculate how much glucose readings spread out from the average. </a:t>
            </a:r>
          </a:p>
          <a:p>
            <a:pPr marL="285750" indent="-285750"/>
            <a:r>
              <a:rPr lang="en-US" sz="1800" dirty="0"/>
              <a:t>The results below indicate that glucose readings vary away by 13.74 from the average. </a:t>
            </a:r>
          </a:p>
          <a:p>
            <a:pPr marL="285750" indent="-285750"/>
            <a:r>
              <a:rPr lang="en-US" sz="1800" dirty="0"/>
              <a:t>This suggests there is a </a:t>
            </a:r>
            <a:r>
              <a:rPr lang="en-US" sz="1800" b="1" dirty="0"/>
              <a:t>moderate variation</a:t>
            </a:r>
            <a:r>
              <a:rPr lang="en-US" sz="1800" dirty="0"/>
              <a:t> in glucose levels among participants.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52DFC5-07D5-9DCE-1D1A-2F47E26F6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56" y="5866557"/>
            <a:ext cx="3025402" cy="502964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25C121F9-6553-42C3-5E0F-2F8372CF8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973" y="5686154"/>
            <a:ext cx="4648603" cy="662997"/>
          </a:xfrm>
          <a:prstGeom prst="rect">
            <a:avLst/>
          </a:prstGeom>
        </p:spPr>
      </p:pic>
      <p:graphicFrame>
        <p:nvGraphicFramePr>
          <p:cNvPr id="41" name="TextBox 4">
            <a:extLst>
              <a:ext uri="{FF2B5EF4-FFF2-40B4-BE49-F238E27FC236}">
                <a16:creationId xmlns:a16="http://schemas.microsoft.com/office/drawing/2014/main" id="{CCC956E1-768C-EB20-B4B1-AC01FCDC43CF}"/>
              </a:ext>
            </a:extLst>
          </p:cNvPr>
          <p:cNvGraphicFramePr/>
          <p:nvPr/>
        </p:nvGraphicFramePr>
        <p:xfrm>
          <a:off x="5475317" y="2684095"/>
          <a:ext cx="6096000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74396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B51AE-FEBD-91BA-F664-6867FFD5D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68F37-7211-60CD-7457-451BBA762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Age Group with the Highest Average Cholesterol Level</a:t>
            </a:r>
          </a:p>
        </p:txBody>
      </p:sp>
      <p:sp>
        <p:nvSpPr>
          <p:cNvPr id="39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21D6004-17E3-B743-C059-0724BED8C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359152"/>
            <a:ext cx="3410712" cy="34250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/>
              <a:t>The objective here is to examine how average cholesterol levels are distributed across the 5 age groups</a:t>
            </a:r>
          </a:p>
          <a:p>
            <a:pPr>
              <a:spcAft>
                <a:spcPts val="600"/>
              </a:spcAft>
            </a:pPr>
            <a:r>
              <a:rPr lang="en-US" sz="1700" dirty="0"/>
              <a:t>To establish this, I calculated the average cholesterol and grouped by newly created age group</a:t>
            </a:r>
          </a:p>
          <a:p>
            <a:pPr>
              <a:spcAft>
                <a:spcPts val="600"/>
              </a:spcAft>
            </a:pPr>
            <a:r>
              <a:rPr lang="en-US" sz="1700" dirty="0"/>
              <a:t>Findings indicate a </a:t>
            </a:r>
            <a:r>
              <a:rPr lang="en-US" sz="1700" b="1" dirty="0"/>
              <a:t>positive correlation</a:t>
            </a:r>
            <a:r>
              <a:rPr lang="en-US" sz="1700" dirty="0"/>
              <a:t>: Average cholesterol levels consistently rise as age groups increase.</a:t>
            </a:r>
          </a:p>
          <a:p>
            <a:pPr>
              <a:spcAft>
                <a:spcPts val="600"/>
              </a:spcAft>
            </a:pPr>
            <a:endParaRPr lang="en-US" sz="17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65D53F-63C0-DD65-B512-2718AF2CF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"/>
          <a:stretch>
            <a:fillRect/>
          </a:stretch>
        </p:blipFill>
        <p:spPr>
          <a:xfrm>
            <a:off x="5124450" y="634382"/>
            <a:ext cx="6657213" cy="54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43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83365-47BA-9692-9E8F-572BFD2FD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/>
              <a:t>Distribution of Eye Color among participants</a:t>
            </a:r>
          </a:p>
        </p:txBody>
      </p:sp>
      <p:sp>
        <p:nvSpPr>
          <p:cNvPr id="50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89E14-103C-30BE-9E9F-E0CAFBB85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359152"/>
            <a:ext cx="3410712" cy="34250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/>
              <a:t>The objective is to determine how eye color varies amongst participants.</a:t>
            </a:r>
          </a:p>
          <a:p>
            <a:pPr>
              <a:spcAft>
                <a:spcPts val="600"/>
              </a:spcAft>
            </a:pPr>
            <a:r>
              <a:rPr lang="en-US" sz="1700" dirty="0"/>
              <a:t>To do this, the count function was used to group participants by eye color and calculate the number in each category.</a:t>
            </a:r>
          </a:p>
          <a:p>
            <a:pPr>
              <a:spcAft>
                <a:spcPts val="600"/>
              </a:spcAft>
            </a:pPr>
            <a:r>
              <a:rPr lang="en-US" sz="1700" dirty="0"/>
              <a:t>Outside of the peak in Gray and drop in Brown, the population shows a relatively </a:t>
            </a:r>
            <a:r>
              <a:rPr lang="en-US" sz="1700" b="1" dirty="0"/>
              <a:t>even</a:t>
            </a:r>
            <a:r>
              <a:rPr lang="en-US" sz="1700" dirty="0"/>
              <a:t> distribution across other categories.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D77D16-46A8-ACB6-706A-16D73D76C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26"/>
          <a:stretch>
            <a:fillRect/>
          </a:stretch>
        </p:blipFill>
        <p:spPr>
          <a:xfrm>
            <a:off x="5124450" y="634382"/>
            <a:ext cx="6657213" cy="54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413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92E7B-E161-BE20-707D-BD38397B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F4F2FC05-7D27-410F-BDA9-ADF483136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3" y="633619"/>
            <a:ext cx="545781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7092F3-06DE-E57F-02F1-CB8B579DF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978408"/>
            <a:ext cx="460705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Proportion of Participants in the smoking Status Category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4446484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0BFC5-1192-174B-F399-3DC91C1DC298}"/>
              </a:ext>
            </a:extLst>
          </p:cNvPr>
          <p:cNvSpPr txBox="1"/>
          <p:nvPr/>
        </p:nvSpPr>
        <p:spPr>
          <a:xfrm>
            <a:off x="841246" y="2368296"/>
            <a:ext cx="4607052" cy="3502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Participants were divided by smoking status (e.g., current, former, never). For each status, I aggregated the actual number of people in that group, and the percentage they make up of the total study population.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Insights</a:t>
            </a:r>
            <a:r>
              <a:rPr lang="en-US" dirty="0"/>
              <a:t>: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Most of the tracked participants (combining Non-Smokers and Former Smokers) do not currently smoke.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E5055E-8821-AE55-09D1-B0CD69892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" r="-2" b="-2"/>
          <a:stretch>
            <a:fillRect/>
          </a:stretch>
        </p:blipFill>
        <p:spPr>
          <a:xfrm>
            <a:off x="6324599" y="10"/>
            <a:ext cx="5457817" cy="3337549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0943D15D-C438-026D-5F89-895171D4C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52" b="-2"/>
          <a:stretch>
            <a:fillRect/>
          </a:stretch>
        </p:blipFill>
        <p:spPr>
          <a:xfrm>
            <a:off x="6324590" y="3520439"/>
            <a:ext cx="5457817" cy="333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25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DE75B-F269-F9AC-7FB7-EDA043380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F4F2FC05-7D27-410F-BDA9-ADF483136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3" y="633619"/>
            <a:ext cx="545781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0F60F-755D-4299-9325-F2A9F75DB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978408"/>
            <a:ext cx="460705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Rate of Participants with &amp; without a Family History of Diabetes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4446484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A9FB66-31F0-9B4F-98B5-481FB33246D0}"/>
              </a:ext>
            </a:extLst>
          </p:cNvPr>
          <p:cNvSpPr txBox="1"/>
          <p:nvPr/>
        </p:nvSpPr>
        <p:spPr>
          <a:xfrm>
            <a:off x="841246" y="2368296"/>
            <a:ext cx="4607052" cy="35021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To answer this, I grouped participants based on whether they have a family history of diabetes. For each group, the count of participants was carried out. 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was followed by a calculation of the percentage each group represents out of all participants. </a:t>
            </a:r>
            <a:endParaRPr lang="en-US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Insights: 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majority of participants (70.3%) do not have a family history of diabetes indicated by 0 while (29.7%) carry a family history of diabetes indicated by 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9B7B74-B7C8-6125-21E3-7CA6F757C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4" r="264" b="-2"/>
          <a:stretch>
            <a:fillRect/>
          </a:stretch>
        </p:blipFill>
        <p:spPr>
          <a:xfrm>
            <a:off x="6324599" y="10"/>
            <a:ext cx="5457817" cy="3337549"/>
          </a:xfrm>
          <a:prstGeom prst="rect">
            <a:avLst/>
          </a:prstGeom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67FD24B8-2237-F61B-7526-8C00433DE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" r="30085" b="1"/>
          <a:stretch>
            <a:fillRect/>
          </a:stretch>
        </p:blipFill>
        <p:spPr>
          <a:xfrm>
            <a:off x="6324590" y="3520439"/>
            <a:ext cx="5457817" cy="333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696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E33074-8125-F505-8E96-8C2116FCA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 smoking status associated with diagnosis risk?</a:t>
            </a:r>
            <a:endParaRPr 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43DA66-3305-2BCD-97FB-1B9367B90528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 used the </a:t>
            </a:r>
            <a:r>
              <a:rPr lang="en-US" b="1" dirty="0"/>
              <a:t>chi-square test </a:t>
            </a:r>
            <a:r>
              <a:rPr lang="en-US" dirty="0"/>
              <a:t>to measure association between smoking status (current/former/non-smoker) and diagnosis risk (true/false).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Results to the right indicate;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p-value (2.2e-16) is less than the alpha value of 0.05 meaning we reject the null hypothesis and conclude that there is a statistically significant association between the variable.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large chi-square value (98.95) indicates that the observed distribution is extremely unlikely to have occurred by chance alone.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2DF3D7-5B98-19C6-313C-5835013FA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968328"/>
            <a:ext cx="6440424" cy="286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171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80A5E2-73CC-68A9-7C27-53E1C10C7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 Urban Rural Dwelling Associated with Alcohol Consumption?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C54E40-2D8D-EDE2-972E-65DF611844C5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 used the </a:t>
            </a:r>
            <a:r>
              <a:rPr lang="en-US" b="1" dirty="0" err="1"/>
              <a:t>t.test</a:t>
            </a:r>
            <a:r>
              <a:rPr lang="en-US" b="1" dirty="0"/>
              <a:t> </a:t>
            </a:r>
            <a:r>
              <a:rPr lang="en-US" dirty="0"/>
              <a:t>to compare the difference in means for rural and urban dwellers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Results to the right indicate;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There is no statistically significant association between the variables since (p = 0.5105  &gt; 0.05).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very low chi-square value (1.34) confirms that the observed distribution is very close to what would be expected by chance alone.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 conclusion, no relationship exists, the variables are independent.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A1A364-8F84-9CC0-C020-FC0FFEAF2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2258147"/>
            <a:ext cx="6440424" cy="228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3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55024-EF67-4DD8-FF4A-1C8082C0A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 Cognitive Scores Vary Across Blood </a:t>
            </a:r>
            <a:r>
              <a:rPr lang="en-US" sz="3100" dirty="0"/>
              <a:t>Types?</a:t>
            </a:r>
            <a:endParaRPr lang="en-US" sz="3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071F97-D6A9-A44A-2367-36441717C515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 used the </a:t>
            </a:r>
            <a:r>
              <a:rPr lang="en-US" b="1" dirty="0" err="1"/>
              <a:t>anova</a:t>
            </a:r>
            <a:r>
              <a:rPr lang="en-US" b="1" dirty="0"/>
              <a:t> test </a:t>
            </a:r>
            <a:r>
              <a:rPr lang="en-US" dirty="0"/>
              <a:t>to establish if there is a significant difference in means of 4 different blood types (A, B, AB, O)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The results on the right indicate;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p-value (0.0844) &gt; alpha (0.05), therefore we fail to reject the null hypothesis.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However, the result is marginally significant (p &lt; 0.10), suggesting a weak trend that does not meet conventional statistical significance.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0CF274-9A8F-66C6-2119-577A46112F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2242047"/>
            <a:ext cx="6440424" cy="231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52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DAC914-C545-64A0-451D-A849E4DA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 there a Correlation between BMI and SystolicBP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68CC0-E26B-0098-708E-D3618A1BBFFD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 used the </a:t>
            </a:r>
            <a:r>
              <a:rPr lang="en-US" b="1" dirty="0"/>
              <a:t>correlation test </a:t>
            </a:r>
            <a:r>
              <a:rPr lang="en-US" dirty="0"/>
              <a:t>to establish whether the relationship between BMI and systolic BP is negative, positive or null.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The results to the right indicate;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Since p-value (&lt; 0.001) &lt; alpha (0.05), we reject the null hypothesis.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 conclusion, there is a statistically significant, </a:t>
            </a:r>
            <a:r>
              <a:rPr lang="en-US" b="1" dirty="0"/>
              <a:t>moderate-to-strong positive </a:t>
            </a:r>
            <a:r>
              <a:rPr lang="en-US" dirty="0"/>
              <a:t>correlation between BMI and systolic blood pressure (</a:t>
            </a:r>
            <a:r>
              <a:rPr lang="en-US" dirty="0" err="1"/>
              <a:t>cor</a:t>
            </a:r>
            <a:r>
              <a:rPr lang="en-US" dirty="0"/>
              <a:t> = 0.644 and p-value &lt; 0.05).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81F419-8393-27A6-D7C5-9FD3F0BFE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984430"/>
            <a:ext cx="6440424" cy="283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372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825AC-39F2-1B8B-4D2A-9FA681D5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Strongly is Daily Screen Time Hours Related to Depression Score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8682A4-F629-313F-0E49-BDE2DCB5DE2B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 used the </a:t>
            </a:r>
            <a:r>
              <a:rPr lang="en-US" b="1" dirty="0"/>
              <a:t>correlation test </a:t>
            </a:r>
            <a:r>
              <a:rPr lang="en-US" dirty="0"/>
              <a:t>to establish whether the relationship between daily screen time and depression score is negative, positive or null.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Results to the right indicate;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Since p-value &lt; alpha (0.05), we REJECT the null hypothesis.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 conclusion, there is a statistically significant, </a:t>
            </a:r>
            <a:r>
              <a:rPr lang="en-US" b="1" dirty="0"/>
              <a:t>weak to moderate positive </a:t>
            </a:r>
            <a:r>
              <a:rPr lang="en-US" dirty="0"/>
              <a:t>correlation between daily screen time and depression score (r = 0.3777, p &lt; 0.001).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FB86BA-ACFF-927D-AC66-0D1E7DAC6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895874"/>
            <a:ext cx="6440424" cy="301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39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2EF62C-F423-537E-7238-8F6379912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Does Stress Level Significantly Predict Depression Score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672477-1E38-BEE9-48B3-EB8EF690193D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I built a </a:t>
            </a:r>
            <a:r>
              <a:rPr lang="en-US" sz="1700" b="1" dirty="0"/>
              <a:t>linear regression model </a:t>
            </a:r>
            <a:r>
              <a:rPr lang="en-US" sz="1700" dirty="0"/>
              <a:t>to examine whether stress levels can predict depression score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The results on the right indicate the following;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The intercept value of 15.2928 represents the estimated depression score for the reference stress category (</a:t>
            </a:r>
            <a:r>
              <a:rPr lang="en-US" sz="1700" dirty="0" err="1"/>
              <a:t>StressLevelHigh</a:t>
            </a:r>
            <a:r>
              <a:rPr lang="en-US" sz="1700" dirty="0"/>
              <a:t>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Compared to the reference category above, participants with low stress had depression scores lower by 2.6861 points, while participants with medium stress had depression scores lower by 2.2866 points.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Both relationships were statistically significant (p&lt;0.001&lt;0.05). In conclusion, stress level significantly affects depression score.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AB5F2B-6FB9-0B79-3379-DF2515694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284033"/>
            <a:ext cx="6440424" cy="423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906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50A57-5E03-F491-5875-07628FAEF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 Exercise Hours Per Week Predict Cholesterol Levels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BDCE8A-C649-517F-BB26-9F63E0BECDF5}"/>
              </a:ext>
            </a:extLst>
          </p:cNvPr>
          <p:cNvSpPr txBox="1"/>
          <p:nvPr/>
        </p:nvSpPr>
        <p:spPr>
          <a:xfrm>
            <a:off x="841248" y="2252870"/>
            <a:ext cx="3412219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 built a </a:t>
            </a:r>
            <a:r>
              <a:rPr lang="en-US" sz="1400" b="1" dirty="0"/>
              <a:t>linear regression model </a:t>
            </a:r>
            <a:r>
              <a:rPr lang="en-US" sz="1400" dirty="0"/>
              <a:t>to examine whether  exercise hours per week can predict cholesterol levels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The results to the right indicate;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 predicted average cholesterol level for someone with 0 hours of exercise per week is 217.9866.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For each additional hour of exercise per week, cholesterol level decreases by only 0.14, but this effect is NOT statistically significant (p = 0.793 &gt; alpha 0.05)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30FF7E-4843-F4DC-387B-65F9FAF38A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0" y="1040495"/>
            <a:ext cx="6656832" cy="46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916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6AC9E9-93B3-56E9-8FA8-2750FE95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Does Family History Diabetes Significantly Increase Disease Risk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432A8C-DEF3-92FF-A3B5-01E20AE578B2}"/>
              </a:ext>
            </a:extLst>
          </p:cNvPr>
          <p:cNvSpPr txBox="1"/>
          <p:nvPr/>
        </p:nvSpPr>
        <p:spPr>
          <a:xfrm>
            <a:off x="841248" y="2252870"/>
            <a:ext cx="3412219" cy="35602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I built a </a:t>
            </a:r>
            <a:r>
              <a:rPr lang="en-US" sz="1700" b="1" dirty="0"/>
              <a:t>logistical regression model </a:t>
            </a:r>
            <a:r>
              <a:rPr lang="en-US" sz="1700" dirty="0"/>
              <a:t>to predict the outcome(diagnostic risk) using independent variables (family history)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Results to the right indicate;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Intercept =  -5.4525 indicates that without family history the chance of high diagnostic risk is very low.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Since p-value &lt; 0.05, we REJECT the null hypothesis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In conclusion, people with a family history of diabetes are 56.6 times more likely to be at high diagnosis risk </a:t>
            </a:r>
            <a:r>
              <a:rPr lang="en-US" sz="1500" i="1" dirty="0"/>
              <a:t>(</a:t>
            </a:r>
            <a:r>
              <a:rPr lang="en-US" sz="1500" i="1" dirty="0">
                <a:solidFill>
                  <a:schemeClr val="accent2"/>
                </a:solidFill>
              </a:rPr>
              <a:t>applied exponential function to 4.04 to derive 56.6</a:t>
            </a:r>
            <a:r>
              <a:rPr lang="en-US" sz="1500" i="1" dirty="0"/>
              <a:t>)</a:t>
            </a:r>
            <a:endParaRPr lang="en-US" sz="1700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72AECD-0527-95CF-8F22-1693C8586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25" b="2"/>
          <a:stretch>
            <a:fillRect/>
          </a:stretch>
        </p:blipFill>
        <p:spPr>
          <a:xfrm>
            <a:off x="5120640" y="1332783"/>
            <a:ext cx="6656832" cy="40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83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8F158-DA9E-3882-7AB4-13CD6F8F3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 Age, BMI, Glucose Level &amp; Stress Level impact Diagnostic Risk Outcomes?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1936B0-E331-5B91-9FE4-CE53F5A187CF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I built a </a:t>
            </a:r>
            <a:r>
              <a:rPr lang="en-US" sz="1300" b="1" dirty="0"/>
              <a:t>logistical model </a:t>
            </a:r>
            <a:r>
              <a:rPr lang="en-US" sz="1300" dirty="0"/>
              <a:t>to predict how the independent variables above influence the categorical outcome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b="1" dirty="0"/>
              <a:t>Results to the right indicate;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When Age = 0, BMI = 0, and </a:t>
            </a:r>
            <a:r>
              <a:rPr lang="en-US" sz="1300" dirty="0" err="1"/>
              <a:t>GlucoseLevel</a:t>
            </a:r>
            <a:r>
              <a:rPr lang="en-US" sz="1300" dirty="0"/>
              <a:t> = 0, the intercept indicates a very low baseline probability of the outcome.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Age had a coefficient of -0.004017, meaning increasing age slightly decreased the odds of the outcome.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BMI had a coefficient of 0.147874, meaning increasing BMI increased the odds of the outcome.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 err="1"/>
              <a:t>GlucoseLevel</a:t>
            </a:r>
            <a:r>
              <a:rPr lang="en-US" sz="1300" dirty="0"/>
              <a:t> had a coefficient of 0.011436, meaning increasing glucose level slightly increased the odds of the outcome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D368C0-D8A0-6289-C27E-3486DE1D1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4" b="1"/>
          <a:stretch>
            <a:fillRect/>
          </a:stretch>
        </p:blipFill>
        <p:spPr>
          <a:xfrm>
            <a:off x="5385816" y="743201"/>
            <a:ext cx="6440424" cy="531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209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9A92D-C7F6-4423-641C-8DB11AED2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does Monthly Medical Cost Trend over Follow-up Month?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25545-FFFF-88B0-54EF-0A114220C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3412219" cy="356025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300" dirty="0"/>
              <a:t>To establish the monthly trend, I created a new month column using </a:t>
            </a:r>
            <a:r>
              <a:rPr lang="en-US" sz="1300" b="1" dirty="0"/>
              <a:t>mutate</a:t>
            </a:r>
            <a:r>
              <a:rPr lang="en-US" sz="1300" dirty="0"/>
              <a:t> function, then grouped by month and aggregated cost.</a:t>
            </a:r>
          </a:p>
          <a:p>
            <a:pPr>
              <a:spcAft>
                <a:spcPts val="600"/>
              </a:spcAft>
            </a:pPr>
            <a:r>
              <a:rPr lang="en-US" sz="1300" b="1" dirty="0"/>
              <a:t>The line graph indicates the following;</a:t>
            </a:r>
          </a:p>
          <a:p>
            <a:pPr>
              <a:spcAft>
                <a:spcPts val="600"/>
              </a:spcAft>
            </a:pPr>
            <a:r>
              <a:rPr lang="en-US" sz="1300" dirty="0"/>
              <a:t>Total costs hit their absolute highest point in May. </a:t>
            </a:r>
          </a:p>
          <a:p>
            <a:pPr>
              <a:spcAft>
                <a:spcPts val="600"/>
              </a:spcAft>
            </a:pPr>
            <a:r>
              <a:rPr lang="en-US" sz="1300" dirty="0"/>
              <a:t>There were sharp drops in spending in June and September</a:t>
            </a:r>
          </a:p>
          <a:p>
            <a:pPr>
              <a:spcAft>
                <a:spcPts val="600"/>
              </a:spcAft>
            </a:pPr>
            <a:r>
              <a:rPr lang="en-US" sz="1300" dirty="0"/>
              <a:t>The final quarter (Oct to Dec) shows a strong upward trend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7B39D5-C1E9-B339-763C-4ACC21B3F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0" y="824148"/>
            <a:ext cx="6656832" cy="510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720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E91598-8A65-A8EA-68CE-43F8C2073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 there Seasonality in Sick Days Last Year Reporting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1DB1E-A91F-9285-4D91-E192FD7AA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3412219" cy="356025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700" dirty="0"/>
              <a:t>To establish this, I grouped the data by the month column and calculated the average number of sick days per month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/>
              <a:t>The line graph indicates;</a:t>
            </a:r>
          </a:p>
          <a:p>
            <a:pPr>
              <a:spcAft>
                <a:spcPts val="600"/>
              </a:spcAft>
            </a:pPr>
            <a:r>
              <a:rPr lang="en-US" sz="1700" b="1" dirty="0"/>
              <a:t>General Volatility</a:t>
            </a:r>
            <a:r>
              <a:rPr lang="en-US" sz="1700" dirty="0"/>
              <a:t>: The data shows a "sawtooth" pattern with frequent ups and downs, but the average remains largely within a tight band (7.4 to 7.8) until the major December outlier.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2A8D1D-E199-6BD6-17B3-AA1094732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899" y="630936"/>
            <a:ext cx="6542313" cy="549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99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4F2FC05-7D27-410F-BDA9-ADF483136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3" y="633619"/>
            <a:ext cx="545781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7D67C-1A51-527A-B312-13C155669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978408"/>
            <a:ext cx="460705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Which Participants Have Abnormally High or Low BMIs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4446484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29E081-634C-E66C-E614-F6CA2DAF0C49}"/>
              </a:ext>
            </a:extLst>
          </p:cNvPr>
          <p:cNvSpPr txBox="1"/>
          <p:nvPr/>
        </p:nvSpPr>
        <p:spPr>
          <a:xfrm>
            <a:off x="841246" y="2368296"/>
            <a:ext cx="4607052" cy="3502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Central tendency: </a:t>
            </a:r>
            <a:r>
              <a:rPr lang="en-US"/>
              <a:t>most frequent BMI values (the peak) falling between </a:t>
            </a:r>
            <a:r>
              <a:rPr lang="en-US" b="1"/>
              <a:t>23 and 27</a:t>
            </a:r>
            <a:r>
              <a:rPr lang="en-US"/>
              <a:t>, which aligns with the "Healthy Weight" to "Overweight" boundary.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Slight Right Skew</a:t>
            </a:r>
            <a:r>
              <a:rPr lang="en-US"/>
              <a:t>: The data trails off more gradually toward the higher BMI values (the right side), indicating a larger segment of the population in the "Obese" range compared to the "Underweight" range.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3B54A2-F42D-B77B-B176-F154AFED0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20326"/>
          <a:stretch>
            <a:fillRect/>
          </a:stretch>
        </p:blipFill>
        <p:spPr>
          <a:xfrm>
            <a:off x="6324599" y="10"/>
            <a:ext cx="5457817" cy="333754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C18876-E251-5F3E-A021-3E2752F2F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6" b="1"/>
          <a:stretch>
            <a:fillRect/>
          </a:stretch>
        </p:blipFill>
        <p:spPr>
          <a:xfrm>
            <a:off x="6324590" y="3520439"/>
            <a:ext cx="5457817" cy="333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49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BCBB4A4-D2CF-EA4D-3B8D-FBF94D1D566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557" r="9091" b="1116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1FB8D-AE6F-AA88-E8E0-392602BD2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Key insights</a:t>
            </a:r>
            <a:endParaRPr lang="en-UG"/>
          </a:p>
        </p:txBody>
      </p:sp>
      <p:graphicFrame>
        <p:nvGraphicFramePr>
          <p:cNvPr id="19" name="Rectangle 1">
            <a:extLst>
              <a:ext uri="{FF2B5EF4-FFF2-40B4-BE49-F238E27FC236}">
                <a16:creationId xmlns:a16="http://schemas.microsoft.com/office/drawing/2014/main" id="{66087AE7-7025-AFE4-4228-761E9E3D85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00770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6832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4ABBDC-172C-7F8B-D1C3-A23C88F0E05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607" b="712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024C10-655F-5DFE-185F-6DD311D29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Skills demonstrated</a:t>
            </a:r>
            <a:endParaRPr lang="en-UG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641BCA5-172F-05BB-CD25-A67D0095DB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26314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0548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1904</Words>
  <Application>Microsoft Office PowerPoint</Application>
  <PresentationFormat>Widescreen</PresentationFormat>
  <Paragraphs>143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Office Theme</vt:lpstr>
      <vt:lpstr>Community Health: </vt:lpstr>
      <vt:lpstr>Background</vt:lpstr>
      <vt:lpstr> Tool utilized</vt:lpstr>
      <vt:lpstr>Phase1: loading the dataset</vt:lpstr>
      <vt:lpstr>Phase2: Analysis &amp; Findings</vt:lpstr>
      <vt:lpstr>Average BMI across different Age Groups</vt:lpstr>
      <vt:lpstr>Glucose &amp; Systolic-BP summary</vt:lpstr>
      <vt:lpstr>Age Group with the Highest Average Cholesterol Level</vt:lpstr>
      <vt:lpstr>Distribution of Eye Color among participants</vt:lpstr>
      <vt:lpstr>Proportion of Participants in the smoking Status Category</vt:lpstr>
      <vt:lpstr>Rate of Participants with &amp; without a Family History of Diabetes</vt:lpstr>
      <vt:lpstr>Is smoking status associated with diagnosis risk?</vt:lpstr>
      <vt:lpstr>Is Urban Rural Dwelling Associated with Alcohol Consumption?</vt:lpstr>
      <vt:lpstr>Do Cognitive Scores Vary Across Blood Types?</vt:lpstr>
      <vt:lpstr>Is there a Correlation between BMI and SystolicBP</vt:lpstr>
      <vt:lpstr>How Strongly is Daily Screen Time Hours Related to Depression Score</vt:lpstr>
      <vt:lpstr>Does Stress Level Significantly Predict Depression Score</vt:lpstr>
      <vt:lpstr>Can Exercise Hours Per Week Predict Cholesterol Levels</vt:lpstr>
      <vt:lpstr>Does Family History Diabetes Significantly Increase Disease Risk</vt:lpstr>
      <vt:lpstr>Can Age, BMI, Glucose Level &amp; Stress Level impact Diagnostic Risk Outcomes?</vt:lpstr>
      <vt:lpstr>How does Monthly Medical Cost Trend over Follow-up Month? </vt:lpstr>
      <vt:lpstr>Is there Seasonality in Sick Days Last Year Reporting</vt:lpstr>
      <vt:lpstr>Which Participants Have Abnormally High or Low BMIs</vt:lpstr>
      <vt:lpstr>Key insights</vt:lpstr>
      <vt:lpstr>Skills demonstrated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Tumwesigye</dc:creator>
  <cp:lastModifiedBy>Andrew Tumwesigye</cp:lastModifiedBy>
  <cp:revision>46</cp:revision>
  <dcterms:created xsi:type="dcterms:W3CDTF">2026-05-12T08:21:59Z</dcterms:created>
  <dcterms:modified xsi:type="dcterms:W3CDTF">2026-05-14T07:17:13Z</dcterms:modified>
</cp:coreProperties>
</file>